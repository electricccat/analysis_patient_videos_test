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05049815734017" /><Relationship Type="http://schemas.openxmlformats.org/officeDocument/2006/relationships/extended-properties" Target="/docProps/app.xml" Id="R444fd4a7449b4222" /><Relationship Type="http://schemas.openxmlformats.org/officeDocument/2006/relationships/officeDocument" Target="/ppt/presentation.xml" Id="R79164f4ca04e4bfa" /></Relationships>
</file>

<file path=ppt/presentation.xml><?xml version="1.0" encoding="utf-8"?>
<p:presentation xmlns:p="http://schemas.openxmlformats.org/presentationml/2006/main">
  <p:sldMasterIdLst>
    <p:sldMasterId xmlns:r="http://schemas.openxmlformats.org/officeDocument/2006/relationships" id="2147483648" r:id="R995a8bbafa394a0f"/>
  </p:sldMasterIdLst>
  <p:notesMasterIdLst>
    <p:notesMasterId xmlns:r="http://schemas.openxmlformats.org/officeDocument/2006/relationships" r:id="R2e527e73fa764e73"/>
  </p:notesMasterIdLst>
  <p:sldIdLst>
    <p:sldId xmlns:r="http://schemas.openxmlformats.org/officeDocument/2006/relationships" id="256" r:id="Rb3eed620dfb54379"/>
    <p:sldId xmlns:r="http://schemas.openxmlformats.org/officeDocument/2006/relationships" id="257" r:id="Rd59d6474248c4f50"/>
    <p:sldId xmlns:r="http://schemas.openxmlformats.org/officeDocument/2006/relationships" id="258" r:id="R91d74ce889f64c3e"/>
    <p:sldId xmlns:r="http://schemas.openxmlformats.org/officeDocument/2006/relationships" id="259" r:id="R5dc80f073462426d"/>
    <p:sldId xmlns:r="http://schemas.openxmlformats.org/officeDocument/2006/relationships" id="260" r:id="R64075aa4cc0a4874"/>
    <p:sldId xmlns:r="http://schemas.openxmlformats.org/officeDocument/2006/relationships" id="261" r:id="R6a762fd341934af5"/>
    <p:sldId xmlns:r="http://schemas.openxmlformats.org/officeDocument/2006/relationships" id="262" r:id="R9d8562a332be48bd"/>
    <p:sldId xmlns:r="http://schemas.openxmlformats.org/officeDocument/2006/relationships" id="263" r:id="Rd97247925234478d"/>
    <p:sldId xmlns:r="http://schemas.openxmlformats.org/officeDocument/2006/relationships" id="264" r:id="R053693e461014d68"/>
    <p:sldId xmlns:r="http://schemas.openxmlformats.org/officeDocument/2006/relationships" id="265" r:id="Rdb323e0f3bbd41d5"/>
    <p:sldId xmlns:r="http://schemas.openxmlformats.org/officeDocument/2006/relationships" id="266" r:id="Rcf14f67c7e26418a"/>
    <p:sldId xmlns:r="http://schemas.openxmlformats.org/officeDocument/2006/relationships" id="267" r:id="R7412bd59581541f3"/>
    <p:sldId xmlns:r="http://schemas.openxmlformats.org/officeDocument/2006/relationships" id="268" r:id="R82db0f4e7bc54ef3"/>
    <p:sldId xmlns:r="http://schemas.openxmlformats.org/officeDocument/2006/relationships" id="269" r:id="R84b58a96adfb46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9d49720def4170" /><Relationship Type="http://schemas.openxmlformats.org/officeDocument/2006/relationships/slideMaster" Target="/ppt/slideMasters/slideMaster1.xml" Id="R995a8bbafa394a0f" /><Relationship Type="http://schemas.openxmlformats.org/officeDocument/2006/relationships/notesMaster" Target="/ppt/notesMasters/notesMaster1.xml" Id="R2e527e73fa764e73" /><Relationship Type="http://schemas.openxmlformats.org/officeDocument/2006/relationships/presProps" Target="/ppt/presProps.xml" Id="Rf85b716c31984ef7" /><Relationship Type="http://schemas.openxmlformats.org/officeDocument/2006/relationships/tableStyles" Target="/ppt/tableStyles.xml" Id="R9ca6b5b633e64089" /><Relationship Type="http://schemas.openxmlformats.org/officeDocument/2006/relationships/slide" Target="/ppt/slides/slide1.xml" Id="Rb3eed620dfb54379" /><Relationship Type="http://schemas.openxmlformats.org/officeDocument/2006/relationships/slide" Target="/ppt/slides/slide2.xml" Id="Rd59d6474248c4f50" /><Relationship Type="http://schemas.openxmlformats.org/officeDocument/2006/relationships/slide" Target="/ppt/slides/slide3.xml" Id="R91d74ce889f64c3e" /><Relationship Type="http://schemas.openxmlformats.org/officeDocument/2006/relationships/slide" Target="/ppt/slides/slide4.xml" Id="R5dc80f073462426d" /><Relationship Type="http://schemas.openxmlformats.org/officeDocument/2006/relationships/slide" Target="/ppt/slides/slide5.xml" Id="R64075aa4cc0a4874" /><Relationship Type="http://schemas.openxmlformats.org/officeDocument/2006/relationships/slide" Target="/ppt/slides/slide6.xml" Id="R6a762fd341934af5" /><Relationship Type="http://schemas.openxmlformats.org/officeDocument/2006/relationships/slide" Target="/ppt/slides/slide7.xml" Id="R9d8562a332be48bd" /><Relationship Type="http://schemas.openxmlformats.org/officeDocument/2006/relationships/slide" Target="/ppt/slides/slide8.xml" Id="Rd97247925234478d" /><Relationship Type="http://schemas.openxmlformats.org/officeDocument/2006/relationships/slide" Target="/ppt/slides/slide9.xml" Id="R053693e461014d68" /><Relationship Type="http://schemas.openxmlformats.org/officeDocument/2006/relationships/slide" Target="/ppt/slides/slide10.xml" Id="Rdb323e0f3bbd41d5" /><Relationship Type="http://schemas.openxmlformats.org/officeDocument/2006/relationships/slide" Target="/ppt/slides/slide11.xml" Id="Rcf14f67c7e26418a" /><Relationship Type="http://schemas.openxmlformats.org/officeDocument/2006/relationships/slide" Target="/ppt/slides/slide12.xml" Id="R7412bd59581541f3" /><Relationship Type="http://schemas.openxmlformats.org/officeDocument/2006/relationships/slide" Target="/ppt/slides/slide13.xml" Id="R82db0f4e7bc54ef3" /><Relationship Type="http://schemas.openxmlformats.org/officeDocument/2006/relationships/slide" Target="/ppt/slides/slide14.xml" Id="R84b58a96adfb46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bac56d4d5e42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78aaca39b14312" /><Relationship Type="http://schemas.openxmlformats.org/officeDocument/2006/relationships/notesMaster" Target="/ppt/notesMasters/notesMaster1.xml" Id="R9c5c96eccc4444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0d432911fd4709" /><Relationship Type="http://schemas.openxmlformats.org/officeDocument/2006/relationships/notesMaster" Target="/ppt/notesMasters/notesMaster1.xml" Id="Re64261d9bdf940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b4d70c74d542c6" /><Relationship Type="http://schemas.openxmlformats.org/officeDocument/2006/relationships/notesMaster" Target="/ppt/notesMasters/notesMaster1.xml" Id="R7fc6ef7d8b2542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a232186e5e43c8" /><Relationship Type="http://schemas.openxmlformats.org/officeDocument/2006/relationships/notesMaster" Target="/ppt/notesMasters/notesMaster1.xml" Id="Rab48b05b7ff248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d91515f304416b" /><Relationship Type="http://schemas.openxmlformats.org/officeDocument/2006/relationships/notesMaster" Target="/ppt/notesMasters/notesMaster1.xml" Id="R906f0c2e62de4b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582c6fa4d547d1" /><Relationship Type="http://schemas.openxmlformats.org/officeDocument/2006/relationships/notesMaster" Target="/ppt/notesMasters/notesMaster1.xml" Id="R1c6ddee046074d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132c28510b4d44" /><Relationship Type="http://schemas.openxmlformats.org/officeDocument/2006/relationships/notesMaster" Target="/ppt/notesMasters/notesMaster1.xml" Id="Red6f26a3dd1846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9a34504166487a" /><Relationship Type="http://schemas.openxmlformats.org/officeDocument/2006/relationships/notesMaster" Target="/ppt/notesMasters/notesMaster1.xml" Id="Rf8619b3bb60046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f7c4106ab3414e" /><Relationship Type="http://schemas.openxmlformats.org/officeDocument/2006/relationships/notesMaster" Target="/ppt/notesMasters/notesMaster1.xml" Id="R366339ab28fa4d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a70e084b624039" /><Relationship Type="http://schemas.openxmlformats.org/officeDocument/2006/relationships/notesMaster" Target="/ppt/notesMasters/notesMaster1.xml" Id="Rc866e2d65a334f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bbd736baa54e9c" /><Relationship Type="http://schemas.openxmlformats.org/officeDocument/2006/relationships/notesMaster" Target="/ppt/notesMasters/notesMaster1.xml" Id="R1031541e824249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86d6421dae4e06" /><Relationship Type="http://schemas.openxmlformats.org/officeDocument/2006/relationships/notesMaster" Target="/ppt/notesMasters/notesMaster1.xml" Id="Rda9f72c48d8f4c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ec5eeb65ba4f1d" /><Relationship Type="http://schemas.openxmlformats.org/officeDocument/2006/relationships/notesMaster" Target="/ppt/notesMasters/notesMaster1.xml" Id="R7624d95daf144e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899231f9e144ef" /><Relationship Type="http://schemas.openxmlformats.org/officeDocument/2006/relationships/notesMaster" Target="/ppt/notesMasters/notesMaster1.xml" Id="R7ba1b3efd90345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Кинема — локальный исследовательский прототип для анализа движений верхних конечностей и туловища. Программа объединяет видеометрики, сообщённую историю болезни и литературный контекст в одном исследовании. На протяжении показа речь идёт о поддержке обсуждения со специалистом. Клиническая точность и эффективность применения не установлены. На следующих слайдах используется только вымышленный учебный пример.</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D:/CodexProjects/Analysis_patient_videos_test/README.md</a:t>
            </a:r>
          </a:p>
          <a:p xmlns:a="http://schemas.openxmlformats.org/drawingml/2006/main">
            <a:r>
              <a:t>D:/CodexProjects/Analysis_patient_videos_test/PROJECT_OVERVIEW.md</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Покажите разные роли. Врач получает удобный способ сопоставить конкретный кадр, временной график и сведения анкеты. Пациент может сформулировать понятную ему бытовую цель и обсудить её со специалистом. Здесь не заявляются улучшение исходов, сокращение времени приёма или доказанная эффективность программы.</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D:/CodexProjects/Analysis_patient_videos_test/frontend/src/components/PatientPanel.tsx</a:t>
            </a:r>
          </a:p>
          <a:p xmlns:a="http://schemas.openxmlformats.org/drawingml/2006/main">
            <a:r>
              <a:t>D:/CodexProjects/Analysis_patient_videos_test/frontend/src/components/PatientForm.tsx</a:t>
            </a:r>
          </a:p>
          <a:p xmlns:a="http://schemas.openxmlformats.org/drawingml/2006/main">
            <a:r>
              <a:t>D:/CodexProjects/Analysis_patient_videos_test/README.md</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Загрузите запись одного человека. Укажите анатомическую сторону пациента, а не сторону экрана. Можно выбрать задание, например подъём руки или сгибание локтя, либо оставить его неуказанным. Известную историю болезни можно заполнить до загрузки, а затем дополнить. Для настоящих видео применяется MediaPipe; синтетический демонстрационный пример отдельно сгенерирован из заданных координат.</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D:/CodexProjects/Analysis_patient_videos_test/README.md</a:t>
            </a:r>
          </a:p>
          <a:p xmlns:a="http://schemas.openxmlformats.org/drawingml/2006/main">
            <a:r>
              <a:t>D:/CodexProjects/Analysis_patient_videos_test/backend/app/pipeline.py</a:t>
            </a:r>
          </a:p>
          <a:p xmlns:a="http://schemas.openxmlformats.org/drawingml/2006/main">
            <a:r>
              <a:t>D:/CodexProjects/Analysis_patient_videos_test/frontend/src/components/PatientForm.tsx</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Анкета разделяет общие сведения, анамнез, ограничения, очные результаты и цели реабилитации. Пустое поле означает неизвестность. Поля очного обследования вводятся из оценки специалиста и не измеряются по видео. Сохранение изменений обновляет персонализированный разбор без повторного расчёта видеометрик. Свободный текст истории хранится для врача и не трактуется автоматически как разрешение или запрет лечения.</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D:/CodexProjects/Analysis_patient_videos_test/backend/app/patient.py</a:t>
            </a:r>
          </a:p>
          <a:p xmlns:a="http://schemas.openxmlformats.org/drawingml/2006/main">
            <a:r>
              <a:t>D:/CodexProjects/Analysis_patient_videos_test/frontend/src/components/PatientForm.tsx</a:t>
            </a:r>
          </a:p>
          <a:p xmlns:a="http://schemas.openxmlformats.org/drawingml/2006/main">
            <a:r>
              <a:t>D:/CodexProjects/Analysis_patient_videos_test/frontend/src/components/PatientPanel.tsx</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Учебный пациент условно перенёс инсульт 12 февраля 2026 года. Цели описывают бытовые задачи, а не требуемые значения углов. В сценарии есть лёгкая боль при движении и сообщение о повышении тонуса, чтобы показать приоритеты очной проверки. Анимация построена из заданных координат без распознавания моделью. Она демонстрирует интерфейс и правила подбора, но не подтверждает точность анализа настоящего пациента.</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D:/CodexProjects/Analysis_patient_videos_test/examples/demo_patient.json</a:t>
            </a:r>
          </a:p>
          <a:p xmlns:a="http://schemas.openxmlformats.org/drawingml/2006/main">
            <a:r>
              <a:t>D:/CodexProjects/Analysis_patient_videos_test/examples/DEMO_GUIDE.md</a:t>
            </a:r>
          </a:p>
          <a:p xmlns:a="http://schemas.openxmlformats.org/drawingml/2006/main">
            <a:r>
              <a:t>D:/CodexProjects/Analysis_patient_videos_test/scripts/create_demo.py</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живом показе нажмите на событие максимального подъёма на 3-й секунде, затем на другую точку графика. Видео и график синхронизируются. Переключите показатель между углом плеча, локтя, скоростью кисти и изменением наклона корпуса. Разрывы графика означают отсутствие надёжных данных, а не неподвижность. Запястье отслеживается как точка; пальцы и захват в текущей версии не измеряются.</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D:/CodexProjects/Analysis_patient_videos_test/README.md</a:t>
            </a:r>
          </a:p>
          <a:p xmlns:a="http://schemas.openxmlformats.org/drawingml/2006/main">
            <a:r>
              <a:t>D:/CodexProjects/Analysis_patient_videos_test/frontend/src</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Расчёт ROM — разница между максимальным и минимальным надёжным значением угла на записи. На демонстрации правый локоть имеет минимум 135° и максимум 155°, поэтому ROM равен 20°. Значения в таблице получены по синтетическим координатам. Проекционный угол зависит от ракурса и отличается от клинической гониометрии. Сравнение сторон имеет смысл при сопоставимых заданиях. Скорость и траектория нормируются по ширине плеч и не выражаются в сантиметрах.</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D:/CodexProjects/Analysis_patient_videos_test/backend/app/biomechanics</a:t>
            </a:r>
          </a:p>
          <a:p xmlns:a="http://schemas.openxmlformats.org/drawingml/2006/main">
            <a:r>
              <a:t>D:/CodexProjects/Analysis_patient_videos_test/backend/app/report</a:t>
            </a:r>
          </a:p>
          <a:p xmlns:a="http://schemas.openxmlformats.org/drawingml/2006/main">
            <a:r>
              <a:t>D:/CodexProjects/Analysis_patient_videos_test/examples/DEMO_GUIDE.md</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Во вкладке объективного отчёта перечислены непосредственно измеренные данные и отдельно признаки, выявленные алгоритмом. Алгоритмическое событие не является установленным медицинским фактом. Высокая техническая надёжность показывает достаточность данных для расчёта, а не клиническую валидность. Экспорт отчёта включает анкету, измерения и литературный контекст.</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D:/CodexProjects/Analysis_patient_videos_test/backend/app/report</a:t>
            </a:r>
          </a:p>
          <a:p xmlns:a="http://schemas.openxmlformats.org/drawingml/2006/main">
            <a:r>
              <a:t>D:/CodexProjects/Analysis_patient_videos_test/README.md</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Текущий персонализированный контекст реализован для взрослых от 18 лет с указанным в анкете инсультом и подтверждением диагноза врачом. Для других диагнозов, несовершеннолетних и неизвестного возраста автоматический персонализированный подбор методов не выполняется. Новые неврологические симптомы приостанавливают такой подбор до медицинской оценки. Свободный текст анамнеза не интерпретируется как медицинское решение. Программа не назначает препараты, дозы, частоту процедур или нагрузку.</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D:/CodexProjects/Analysis_patient_videos_test/backend/app/patient.py</a:t>
            </a:r>
          </a:p>
          <a:p xmlns:a="http://schemas.openxmlformats.org/drawingml/2006/main">
            <a:r>
              <a:t>D:/CodexProjects/Analysis_patient_videos_test/frontend/src/components/PatientPanel.tsx</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интерфейсе можно открыть оригинальный источник, проверить дату и увидеть ограничения доказательств или расхождения рекомендаций. Каталог не является исчерпывающим обзором. Дополнительный поиск PubMed требует интернета; наружу передаётся общий запрос выбранной темы, без видео, истории болезни и значений метрик. Этот слайд описывает устройство программы и не формулирует рекомендаций по лечению.</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D:/CodexProjects/Analysis_patient_videos_test/backend/app/evidence</a:t>
            </a:r>
          </a:p>
          <a:p xmlns:a="http://schemas.openxmlformats.org/drawingml/2006/main">
            <a:r>
              <a:t>D:/CodexProjects/Analysis_patient_videos_test/README.md</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оцените корректность скелета на видео и наличие надёжных точек. Пропущенные значения не заполняются выдуманными измерениями. Наклон корпуса и асимметрия требуют клинической интерпретации в контексте задания. Полностью заданные координаты демо дают высокое покрытие и confidence 1, поэтому это не тест качества распознавания реального видео.</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D:/CodexProjects/Analysis_patient_videos_test/backend/app/biomechanics</a:t>
            </a:r>
          </a:p>
          <a:p xmlns:a="http://schemas.openxmlformats.org/drawingml/2006/main">
            <a:r>
              <a:t>D:/CodexProjects/Analysis_patient_videos_test/backend/app/movement_analysis</a:t>
            </a:r>
          </a:p>
          <a:p xmlns:a="http://schemas.openxmlformats.org/drawingml/2006/main">
            <a:r>
              <a:t>D:/CodexProjects/Analysis_patient_videos_test/scripts/create_demo.py</a:t>
            </a:r>
          </a:p>
          <a:p xmlns:a="http://schemas.openxmlformats.org/drawingml/2006/main">
            <a:r>
              <a:t>D:/CodexProjects/Analysis_patient_videos_test/README.md</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Отчёт JSON включает анкету, метрики, источники и признак демо. Evidence JSON экспортирует литературный контекст. Локальность означает отсутствие передачи медицинского видео внешним AI API, но сама по себе не обеспечивает полную защиту данных. В текущем однопользовательском прототипе нет встроенных авторизации, шифрования и журнала доступа. Не представляйте его как готовую защищённую медицинскую информационную систему.</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D:/CodexProjects/Analysis_patient_videos_test/README.md</a:t>
            </a:r>
          </a:p>
          <a:p xmlns:a="http://schemas.openxmlformats.org/drawingml/2006/main">
            <a:r>
              <a:t>D:/CodexProjects/Analysis_patient_videos_test/backend/app/storage.py</a:t>
            </a:r>
          </a:p>
          <a:p xmlns:a="http://schemas.openxmlformats.org/drawingml/2006/main">
            <a:r>
              <a:t>D:/CodexProjects/Analysis_patient_videos_test/backend/app/main.py</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Обозначьте эти границы перед вопросами аудитории. Программа не подтверждает диагноз по движению, не оценивает индивидуальные противопоказания и не заменяет очный осмотр. Клиническая точность, воспроизводимость и влияние на исходы ещё должны быть исследованы. Измерения ограничены двумерной проекцией. Анкета привязана к отдельному исследованию; продольная карта пациента и автоматическое сравнение визитов ещё не реализованы.</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D:/CodexProjects/Analysis_patient_videos_test/README.md</a:t>
            </a:r>
          </a:p>
          <a:p xmlns:a="http://schemas.openxmlformats.org/drawingml/2006/main">
            <a:r>
              <a:t>D:/CodexProjects/Analysis_patient_videos_test/PROJECT_OVERVIEW.md</a:t>
            </a:r>
          </a:p>
          <a:p xmlns:a="http://schemas.openxmlformats.org/drawingml/2006/main">
            <a:r>
              <a:t>D:/CodexProjects/Analysis_patient_videos_test/backend/app/patient.py</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Откройте локальное приложение и выберите «Демо · пациент после инсульта». Начните с маркировки вымышленного пациента. Затем раскройте анкету, покажите цели, воспроизведите схематическое видео и нажмите на событие максимума. Объясните ROM по таблице. Покажите приоритеты оценки и ссылку на источник. Если хотите продемонстрировать пропуски, выберите «неизвестно» в учебном поле допуска к нагрузке, сохраните анкету и затем верните прежнее значение. Не изменяйте реальное исследование. Завершите обсуждением того, что оценивается очно. Пять минут — ориентировочная продолжительность показа, не время автоматического анализа.</a:t>
            </a:r>
          </a:p>
          <a:p xmlns:a="http://schemas.openxmlformats.org/drawingml/2006/main">
            <a:r>
              <a:t/>
            </a:r>
          </a:p>
          <a:p xmlns:a="http://schemas.openxmlformats.org/drawingml/2006/main">
            <a:r>
              <a:t>Источники описания реализации:</a:t>
            </a:r>
          </a:p>
          <a:p xmlns:a="http://schemas.openxmlformats.org/drawingml/2006/main">
            <a:r>
              <a:t>D:/CodexProjects/Analysis_patient_videos_test/examples/DEMO_GUIDE.md</a:t>
            </a:r>
          </a:p>
          <a:p xmlns:a="http://schemas.openxmlformats.org/drawingml/2006/main">
            <a:r>
              <a:t>Скриншоты локальной версии от 04.10.2026. Все показанные сведения пациента и движения синтетические.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e3c34696434e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02557c12b84931" /><Relationship Type="http://schemas.openxmlformats.org/officeDocument/2006/relationships/slideLayout" Target="/ppt/slideLayouts/slideLayout1.xml" Id="R8f70e50ac80741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70e50ac80741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16eed922c74b54" /><Relationship Type="http://schemas.openxmlformats.org/officeDocument/2006/relationships/notesSlide" Target="/ppt/notesSlides/notesSlide1.xml" Id="R95c1ece57e4249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97195867a445ec" /><Relationship Type="http://schemas.openxmlformats.org/officeDocument/2006/relationships/notesSlide" Target="/ppt/notesSlides/notesSlide2.xml" Id="R1002b0bd72c349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3f9d0d52274cc9" /><Relationship Type="http://schemas.openxmlformats.org/officeDocument/2006/relationships/image" Target="/ppt/media/image.png" Id="Rf0d60e7f7e8f46b4" /><Relationship Type="http://schemas.openxmlformats.org/officeDocument/2006/relationships/notesSlide" Target="/ppt/notesSlides/notesSlide3.xml" Id="R9fa4ca6395db45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ec88d1cca54d47" /><Relationship Type="http://schemas.openxmlformats.org/officeDocument/2006/relationships/image" Target="/ppt/media/image2.png" Id="Rbd56b4eb6f3640ec" /><Relationship Type="http://schemas.openxmlformats.org/officeDocument/2006/relationships/notesSlide" Target="/ppt/notesSlides/notesSlide4.xml" Id="R8d0cb2f4e88646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a39abe3ebf94fc3" /><Relationship Type="http://schemas.openxmlformats.org/officeDocument/2006/relationships/image" Target="/ppt/media/image3.png" Id="Ref93e5631cef4e53" /><Relationship Type="http://schemas.openxmlformats.org/officeDocument/2006/relationships/notesSlide" Target="/ppt/notesSlides/notesSlide5.xml" Id="R649680ebedca46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8f79937560047d4" /><Relationship Type="http://schemas.openxmlformats.org/officeDocument/2006/relationships/image" Target="/ppt/media/image4.png" Id="R38570ab0eb5c466d" /><Relationship Type="http://schemas.openxmlformats.org/officeDocument/2006/relationships/notesSlide" Target="/ppt/notesSlides/notesSlide6.xml" Id="R353465d685c543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4e0dd64c7447c0" /><Relationship Type="http://schemas.openxmlformats.org/officeDocument/2006/relationships/image" Target="/ppt/media/image5.png" Id="Ref62e97c8e374fd7" /><Relationship Type="http://schemas.openxmlformats.org/officeDocument/2006/relationships/notesSlide" Target="/ppt/notesSlides/notesSlide7.xml" Id="R3528396f73d747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58417ce6bc4ba1" /><Relationship Type="http://schemas.openxmlformats.org/officeDocument/2006/relationships/image" Target="/ppt/media/image6.png" Id="Rdf4eb40c02cc4a73" /><Relationship Type="http://schemas.openxmlformats.org/officeDocument/2006/relationships/notesSlide" Target="/ppt/notesSlides/notesSlide8.xml" Id="Re80ac0eaf3b541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9841027a0d74896" /><Relationship Type="http://schemas.openxmlformats.org/officeDocument/2006/relationships/image" Target="/ppt/media/image7.png" Id="Rd057cf5f2ed242aa" /><Relationship Type="http://schemas.openxmlformats.org/officeDocument/2006/relationships/notesSlide" Target="/ppt/notesSlides/notesSlide9.xml" Id="R50c9343d67714a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a75f4f54814784" /><Relationship Type="http://schemas.openxmlformats.org/officeDocument/2006/relationships/image" Target="/ppt/media/image8.png" Id="Rc63335733986449b" /><Relationship Type="http://schemas.openxmlformats.org/officeDocument/2006/relationships/notesSlide" Target="/ppt/notesSlides/notesSlide10.xml" Id="Rdcc2f778209b44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41dc454a24e4b5a" /><Relationship Type="http://schemas.openxmlformats.org/officeDocument/2006/relationships/image" Target="/ppt/media/image9.png" Id="R46fcfee395634b6b" /><Relationship Type="http://schemas.openxmlformats.org/officeDocument/2006/relationships/notesSlide" Target="/ppt/notesSlides/notesSlide11.xml" Id="R1958db97f75441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f6c25e5eb2c4ba0" /><Relationship Type="http://schemas.openxmlformats.org/officeDocument/2006/relationships/image" Target="/ppt/media/image10.png" Id="Rcc55a30b3d794a88" /><Relationship Type="http://schemas.openxmlformats.org/officeDocument/2006/relationships/notesSlide" Target="/ppt/notesSlides/notesSlide12.xml" Id="R35b99947d7c442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b67a3707127412c" /><Relationship Type="http://schemas.openxmlformats.org/officeDocument/2006/relationships/notesSlide" Target="/ppt/notesSlides/notesSlide13.xml" Id="R960e58006dbd44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8af4aa832214136" /><Relationship Type="http://schemas.openxmlformats.org/officeDocument/2006/relationships/notesSlide" Target="/ppt/notesSlides/notesSlide14.xml" Id="R9a9b93250dcc4ae0" /></Relationships>
</file>

<file path=ppt/slides/slide1.xml><?xml version="1.0" encoding="utf-8"?>
<p:sld xmlns:p="http://schemas.openxmlformats.org/presentationml/2006/main">
  <p:cSld>
    <p:bg>
      <p:bgPr>
        <a:solidFill xmlns:a="http://schemas.openxmlformats.org/drawingml/2006/main">
          <a:srgbClr val="173C3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DA9708-8605-4095-B8E7-CE63DBDB3E9E}"/>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3A5D50"/>
          </a:solidFill>
          <a:ln xmlns:a="http://schemas.openxmlformats.org/drawingml/2006/main" w="0">
            <a:noFill/>
          </a:ln>
        </p:spPr>
      </p:sp>
      <p:sp>
        <p:nvSpPr>
          <p:cNvPr id="2" name="КИНЕМА">
            <a:extLst xmlns:a="http://schemas.openxmlformats.org/drawingml/2006/main">
              <a:ext uri="{FF2B5EF4-FFF2-40B4-BE49-F238E27FC236}">
                <a16:creationId xmlns:a16="http://schemas.microsoft.com/office/drawing/2014/main" id="{33EF035A-288C-44F9-B67C-2974D75ED731}"/>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CD0C3"/>
                </a:solidFill>
                <a:latin typeface="Arial"/>
                <a:ea typeface="Arial"/>
                <a:cs typeface="Arial"/>
              </a:defRPr>
            </a:pPr>
            <a:r>
              <a:rPr sz="1050" b="1">
                <a:solidFill>
                  <a:srgbClr val="BCD0C3"/>
                </a:solidFill>
                <a:latin typeface="Arial"/>
                <a:ea typeface="Arial"/>
                <a:cs typeface="Arial"/>
              </a:rPr>
              <a:t>КИНЕМА</a:t>
            </a:r>
          </a:p>
        </p:txBody>
      </p:sp>
      <p:sp>
        <p:nvSpPr>
          <p:cNvPr id="3" name="Исследовательский прототип">
            <a:extLst xmlns:a="http://schemas.openxmlformats.org/drawingml/2006/main">
              <a:ext uri="{FF2B5EF4-FFF2-40B4-BE49-F238E27FC236}">
                <a16:creationId xmlns:a16="http://schemas.microsoft.com/office/drawing/2014/main" id="{708EAB8A-9974-4A62-9887-1CE65600D12C}"/>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CD0C3"/>
                </a:solidFill>
                <a:latin typeface="Arial"/>
                <a:ea typeface="Arial"/>
                <a:cs typeface="Arial"/>
              </a:defRPr>
            </a:pPr>
            <a:r>
              <a:rPr sz="1050" b="0">
                <a:solidFill>
                  <a:srgbClr val="BCD0C3"/>
                </a:solidFill>
                <a:latin typeface="Arial"/>
                <a:ea typeface="Arial"/>
                <a:cs typeface="Arial"/>
              </a:rPr>
              <a:t>Исследовательский прототип</a:t>
            </a:r>
          </a:p>
        </p:txBody>
      </p:sp>
      <p:sp>
        <p:nvSpPr>
          <p:cNvPr id="4" name="01">
            <a:extLst xmlns:a="http://schemas.openxmlformats.org/drawingml/2006/main">
              <a:ext uri="{FF2B5EF4-FFF2-40B4-BE49-F238E27FC236}">
                <a16:creationId xmlns:a16="http://schemas.microsoft.com/office/drawing/2014/main" id="{9D33534A-5065-44E3-BA68-3413CC358F8A}"/>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CD0C3"/>
                </a:solidFill>
                <a:latin typeface="Arial"/>
                <a:ea typeface="Arial"/>
                <a:cs typeface="Arial"/>
              </a:defRPr>
            </a:pPr>
            <a:r>
              <a:rPr sz="1050" b="0">
                <a:solidFill>
                  <a:srgbClr val="BCD0C3"/>
                </a:solidFill>
                <a:latin typeface="Arial"/>
                <a:ea typeface="Arial"/>
                <a:cs typeface="Arial"/>
              </a:rPr>
              <a:t>01</a:t>
            </a:r>
          </a:p>
        </p:txBody>
      </p:sp>
      <p:sp>
        <p:nvSpPr>
          <p:cNvPr id="5" name="Кинема">
            <a:extLst xmlns:a="http://schemas.openxmlformats.org/drawingml/2006/main">
              <a:ext uri="{FF2B5EF4-FFF2-40B4-BE49-F238E27FC236}">
                <a16:creationId xmlns:a16="http://schemas.microsoft.com/office/drawing/2014/main" id="{31E703B8-B384-4239-9D51-F623238CD5C0}"/>
              </a:ext>
            </a:extLst>
          </p:cNvPr>
          <p:cNvSpPr>
            <a:spLocks xmlns:a="http://schemas.openxmlformats.org/drawingml/2006/main" noGrp="1"/>
          </p:cNvSpPr>
          <p:nvPr/>
        </p:nvSpPr>
        <p:spPr>
          <a:xfrm xmlns:a="http://schemas.openxmlformats.org/drawingml/2006/main">
            <a:off x="685800" y="952500"/>
            <a:ext cx="10382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Кинема</a:t>
            </a:r>
          </a:p>
        </p:txBody>
      </p:sp>
      <p:sp>
        <p:nvSpPr>
          <p:cNvPr id="6" name="Движение верхних конечностей&#10;в понятных данных">
            <a:extLst xmlns:a="http://schemas.openxmlformats.org/drawingml/2006/main">
              <a:ext uri="{FF2B5EF4-FFF2-40B4-BE49-F238E27FC236}">
                <a16:creationId xmlns:a16="http://schemas.microsoft.com/office/drawing/2014/main" id="{C55F9243-0206-488B-ACFC-6415260397EC}"/>
              </a:ext>
            </a:extLst>
          </p:cNvPr>
          <p:cNvSpPr>
            <a:spLocks xmlns:a="http://schemas.openxmlformats.org/drawingml/2006/main" noGrp="1"/>
          </p:cNvSpPr>
          <p:nvPr/>
        </p:nvSpPr>
        <p:spPr>
          <a:xfrm xmlns:a="http://schemas.openxmlformats.org/drawingml/2006/main">
            <a:off x="685800" y="236220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Движение верхних конечностей</a:t>
            </a:r>
          </a:p>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в понятных данных</a:t>
            </a:r>
          </a:p>
        </p:txBody>
      </p:sp>
      <p:sp>
        <p:nvSpPr>
          <p:cNvPr id="7" name="Видео, история болезни и контекст для обсуждения с">
            <a:extLst xmlns:a="http://schemas.openxmlformats.org/drawingml/2006/main">
              <a:ext uri="{FF2B5EF4-FFF2-40B4-BE49-F238E27FC236}">
                <a16:creationId xmlns:a16="http://schemas.microsoft.com/office/drawing/2014/main" id="{9B61EF3E-0A93-4225-BD76-2040BABE38F7}"/>
              </a:ext>
            </a:extLst>
          </p:cNvPr>
          <p:cNvSpPr>
            <a:spLocks xmlns:a="http://schemas.openxmlformats.org/drawingml/2006/main" noGrp="1"/>
          </p:cNvSpPr>
          <p:nvPr/>
        </p:nvSpPr>
        <p:spPr>
          <a:xfrm xmlns:a="http://schemas.openxmlformats.org/drawingml/2006/main">
            <a:off x="685800" y="419100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BCD0C3"/>
                </a:solidFill>
                <a:latin typeface="Arial"/>
                <a:ea typeface="Arial"/>
                <a:cs typeface="Arial"/>
              </a:defRPr>
            </a:pPr>
            <a:r>
              <a:rPr sz="2025" b="0">
                <a:solidFill>
                  <a:srgbClr val="BCD0C3"/>
                </a:solidFill>
                <a:latin typeface="Arial"/>
                <a:ea typeface="Arial"/>
                <a:cs typeface="Arial"/>
              </a:rPr>
              <a:t>Видео, история болезни и контекст для обсуждения с врачом</a:t>
            </a:r>
          </a:p>
        </p:txBody>
      </p:sp>
      <p:sp>
        <p:nvSpPr>
          <p:cNvPr id="8" name="Презентация для врачей и пациентов&#10;Октябрь 2026">
            <a:extLst xmlns:a="http://schemas.openxmlformats.org/drawingml/2006/main">
              <a:ext uri="{FF2B5EF4-FFF2-40B4-BE49-F238E27FC236}">
                <a16:creationId xmlns:a16="http://schemas.microsoft.com/office/drawing/2014/main" id="{95854B9A-A11F-4188-B28B-558CDE68BC0D}"/>
              </a:ext>
            </a:extLst>
          </p:cNvPr>
          <p:cNvSpPr>
            <a:spLocks xmlns:a="http://schemas.openxmlformats.org/drawingml/2006/main" noGrp="1"/>
          </p:cNvSpPr>
          <p:nvPr/>
        </p:nvSpPr>
        <p:spPr>
          <a:xfrm xmlns:a="http://schemas.openxmlformats.org/drawingml/2006/main">
            <a:off x="685800" y="5286375"/>
            <a:ext cx="857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BCD0C3"/>
                </a:solidFill>
                <a:latin typeface="Arial"/>
                <a:ea typeface="Arial"/>
                <a:cs typeface="Arial"/>
              </a:defRPr>
            </a:pPr>
            <a:r>
              <a:rPr sz="1800" b="0">
                <a:solidFill>
                  <a:srgbClr val="BCD0C3"/>
                </a:solidFill>
                <a:latin typeface="Arial"/>
                <a:ea typeface="Arial"/>
                <a:cs typeface="Arial"/>
              </a:rPr>
              <a:t>Презентация для врачей и пациентов</a:t>
            </a:r>
          </a:p>
          <a:p xmlns:a="http://schemas.openxmlformats.org/drawingml/2006/main">
            <a:pPr>
              <a:defRPr sz="1800" b="0">
                <a:solidFill>
                  <a:srgbClr val="BCD0C3"/>
                </a:solidFill>
                <a:latin typeface="Arial"/>
                <a:ea typeface="Arial"/>
                <a:cs typeface="Arial"/>
              </a:defRPr>
            </a:pPr>
            <a:r>
              <a:rPr sz="1800" b="0">
                <a:solidFill>
                  <a:srgbClr val="BCD0C3"/>
                </a:solidFill>
                <a:latin typeface="Arial"/>
                <a:ea typeface="Arial"/>
                <a:cs typeface="Arial"/>
              </a:rPr>
              <a:t>Октябрь 2026</a:t>
            </a:r>
          </a:p>
        </p:txBody>
      </p:sp>
    </p:spTree>
    <p:extLst>
      <p:ext uri="{BB962C8B-B14F-4D97-AF65-F5344CB8AC3E}">
        <p14:creationId xmlns:p14="http://schemas.microsoft.com/office/powerpoint/2010/main" val="1340332108"/>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7" name="Данные для совместного обсуждения">
            <a:extLst xmlns:a="http://schemas.openxmlformats.org/drawingml/2006/main">
              <a:ext uri="{FF2B5EF4-FFF2-40B4-BE49-F238E27FC236}">
                <a16:creationId xmlns:a16="http://schemas.microsoft.com/office/drawing/2014/main" id="{BD9866A2-7ED5-4011-9968-F5291EED3C7F}"/>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Данные для совместного обсуждения</a:t>
            </a:r>
          </a:p>
        </p:txBody>
      </p:sp>
      <p:sp>
        <p:nvSpPr>
          <p:cNvPr id="2" name="Один просмотр объединяет движение, историю и цели ">
            <a:extLst xmlns:a="http://schemas.openxmlformats.org/drawingml/2006/main">
              <a:ext uri="{FF2B5EF4-FFF2-40B4-BE49-F238E27FC236}">
                <a16:creationId xmlns:a16="http://schemas.microsoft.com/office/drawing/2014/main" id="{B010CD49-3919-4108-9263-0D24AAC39869}"/>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Один просмотр объединяет движение, историю и цели человека.</a:t>
            </a:r>
          </a:p>
        </p:txBody>
      </p:sp>
      <p:sp>
        <p:nvSpPr>
          <p:cNvPr id="3" name="">
            <a:extLst xmlns:a="http://schemas.openxmlformats.org/drawingml/2006/main">
              <a:ext uri="{FF2B5EF4-FFF2-40B4-BE49-F238E27FC236}">
                <a16:creationId xmlns:a16="http://schemas.microsoft.com/office/drawing/2014/main" id="{854691FF-FC69-4332-9596-4FB0D181D136}"/>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D6FF61CB-AF48-4D7A-BEC6-E9F7D5C3462D}"/>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23B967DC-C74D-4ECA-9332-759F16D4EC5E}"/>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02">
            <a:extLst xmlns:a="http://schemas.openxmlformats.org/drawingml/2006/main">
              <a:ext uri="{FF2B5EF4-FFF2-40B4-BE49-F238E27FC236}">
                <a16:creationId xmlns:a16="http://schemas.microsoft.com/office/drawing/2014/main" id="{CA5A33D2-5A99-4154-9A73-54B6DAB8E154}"/>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02</a:t>
            </a:r>
          </a:p>
        </p:txBody>
      </p:sp>
      <p:sp>
        <p:nvSpPr>
          <p:cNvPr id="7" name="Для врача">
            <a:extLst xmlns:a="http://schemas.openxmlformats.org/drawingml/2006/main">
              <a:ext uri="{FF2B5EF4-FFF2-40B4-BE49-F238E27FC236}">
                <a16:creationId xmlns:a16="http://schemas.microsoft.com/office/drawing/2014/main" id="{280F153A-DD34-41CD-9FF9-C6A83241F06A}"/>
              </a:ext>
            </a:extLst>
          </p:cNvPr>
          <p:cNvSpPr>
            <a:spLocks xmlns:a="http://schemas.openxmlformats.org/drawingml/2006/main" noGrp="1"/>
          </p:cNvSpPr>
          <p:nvPr/>
        </p:nvSpPr>
        <p:spPr>
          <a:xfrm xmlns:a="http://schemas.openxmlformats.org/drawingml/2006/main">
            <a:off x="533400" y="20097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3C34"/>
                </a:solidFill>
                <a:latin typeface="Arial"/>
                <a:ea typeface="Arial"/>
                <a:cs typeface="Arial"/>
              </a:defRPr>
            </a:pPr>
            <a:r>
              <a:rPr sz="2550" b="1">
                <a:solidFill>
                  <a:srgbClr val="173C34"/>
                </a:solidFill>
                <a:latin typeface="Arial"/>
                <a:ea typeface="Arial"/>
                <a:cs typeface="Arial"/>
              </a:rPr>
              <a:t>Для врача</a:t>
            </a:r>
          </a:p>
        </p:txBody>
      </p:sp>
      <p:sp>
        <p:nvSpPr>
          <p:cNvPr id="8" name="Видео с отметками суставов&#10;и графиками по времени">
            <a:extLst xmlns:a="http://schemas.openxmlformats.org/drawingml/2006/main">
              <a:ext uri="{FF2B5EF4-FFF2-40B4-BE49-F238E27FC236}">
                <a16:creationId xmlns:a16="http://schemas.microsoft.com/office/drawing/2014/main" id="{68718433-4B7F-4E60-A71D-7A7D0677A154}"/>
              </a:ext>
            </a:extLst>
          </p:cNvPr>
          <p:cNvSpPr>
            <a:spLocks xmlns:a="http://schemas.openxmlformats.org/drawingml/2006/main" noGrp="1"/>
          </p:cNvSpPr>
          <p:nvPr/>
        </p:nvSpPr>
        <p:spPr>
          <a:xfrm xmlns:a="http://schemas.openxmlformats.org/drawingml/2006/main">
            <a:off x="533400" y="2752725"/>
            <a:ext cx="4810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C34"/>
                </a:solidFill>
                <a:latin typeface="Arial"/>
                <a:ea typeface="Arial"/>
                <a:cs typeface="Arial"/>
              </a:defRPr>
            </a:pPr>
            <a:r>
              <a:rPr sz="2175" b="0">
                <a:solidFill>
                  <a:srgbClr val="173C34"/>
                </a:solidFill>
                <a:latin typeface="Arial"/>
                <a:ea typeface="Arial"/>
                <a:cs typeface="Arial"/>
              </a:rPr>
              <a:t>Видео с отметками суставов</a:t>
            </a:r>
          </a:p>
          <a:p xmlns:a="http://schemas.openxmlformats.org/drawingml/2006/main">
            <a:pPr>
              <a:defRPr sz="2175" b="0">
                <a:solidFill>
                  <a:srgbClr val="173C34"/>
                </a:solidFill>
                <a:latin typeface="Arial"/>
                <a:ea typeface="Arial"/>
                <a:cs typeface="Arial"/>
              </a:defRPr>
            </a:pPr>
            <a:r>
              <a:rPr sz="2175" b="0">
                <a:solidFill>
                  <a:srgbClr val="173C34"/>
                </a:solidFill>
                <a:latin typeface="Arial"/>
                <a:ea typeface="Arial"/>
                <a:cs typeface="Arial"/>
              </a:rPr>
              <a:t>и графиками по времени</a:t>
            </a:r>
          </a:p>
        </p:txBody>
      </p:sp>
      <p:sp>
        <p:nvSpPr>
          <p:cNvPr id="9" name="Структурированная история болезни,&#10;пропуски данных">
            <a:extLst xmlns:a="http://schemas.openxmlformats.org/drawingml/2006/main">
              <a:ext uri="{FF2B5EF4-FFF2-40B4-BE49-F238E27FC236}">
                <a16:creationId xmlns:a16="http://schemas.microsoft.com/office/drawing/2014/main" id="{8CBDBD6D-3BC4-48CA-A945-755D8B395922}"/>
              </a:ext>
            </a:extLst>
          </p:cNvPr>
          <p:cNvSpPr>
            <a:spLocks xmlns:a="http://schemas.openxmlformats.org/drawingml/2006/main" noGrp="1"/>
          </p:cNvSpPr>
          <p:nvPr/>
        </p:nvSpPr>
        <p:spPr>
          <a:xfrm xmlns:a="http://schemas.openxmlformats.org/drawingml/2006/main">
            <a:off x="533400" y="4000500"/>
            <a:ext cx="4810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C34"/>
                </a:solidFill>
                <a:latin typeface="Arial"/>
                <a:ea typeface="Arial"/>
                <a:cs typeface="Arial"/>
              </a:defRPr>
            </a:pPr>
            <a:r>
              <a:rPr sz="2025" b="0">
                <a:solidFill>
                  <a:srgbClr val="173C34"/>
                </a:solidFill>
                <a:latin typeface="Arial"/>
                <a:ea typeface="Arial"/>
                <a:cs typeface="Arial"/>
              </a:rPr>
              <a:t>Структурированная история болезни,</a:t>
            </a:r>
          </a:p>
          <a:p xmlns:a="http://schemas.openxmlformats.org/drawingml/2006/main">
            <a:pPr>
              <a:defRPr sz="2025" b="0">
                <a:solidFill>
                  <a:srgbClr val="173C34"/>
                </a:solidFill>
                <a:latin typeface="Arial"/>
                <a:ea typeface="Arial"/>
                <a:cs typeface="Arial"/>
              </a:defRPr>
            </a:pPr>
            <a:r>
              <a:rPr sz="2025" b="0">
                <a:solidFill>
                  <a:srgbClr val="173C34"/>
                </a:solidFill>
                <a:latin typeface="Arial"/>
                <a:ea typeface="Arial"/>
                <a:cs typeface="Arial"/>
              </a:rPr>
              <a:t>пропуски данных и ссылки на источники</a:t>
            </a:r>
          </a:p>
        </p:txBody>
      </p:sp>
      <p:sp>
        <p:nvSpPr>
          <p:cNvPr id="10" name="">
            <a:extLst xmlns:a="http://schemas.openxmlformats.org/drawingml/2006/main">
              <a:ext uri="{FF2B5EF4-FFF2-40B4-BE49-F238E27FC236}">
                <a16:creationId xmlns:a16="http://schemas.microsoft.com/office/drawing/2014/main" id="{E31575D9-3523-41F1-A210-CAD698EB0921}"/>
              </a:ext>
            </a:extLst>
          </p:cNvPr>
          <p:cNvSpPr>
            <a:spLocks xmlns:a="http://schemas.openxmlformats.org/drawingml/2006/main" noGrp="1"/>
          </p:cNvSpPr>
          <p:nvPr/>
        </p:nvSpPr>
        <p:spPr>
          <a:xfrm xmlns:a="http://schemas.openxmlformats.org/drawingml/2006/main">
            <a:off x="533400" y="5362575"/>
            <a:ext cx="4810125"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11" name="Основа для вопросов и очной проверки">
            <a:extLst xmlns:a="http://schemas.openxmlformats.org/drawingml/2006/main">
              <a:ext uri="{FF2B5EF4-FFF2-40B4-BE49-F238E27FC236}">
                <a16:creationId xmlns:a16="http://schemas.microsoft.com/office/drawing/2014/main" id="{94BD1EA9-E8E9-4215-9C8D-AA576F380F81}"/>
              </a:ext>
            </a:extLst>
          </p:cNvPr>
          <p:cNvSpPr>
            <a:spLocks xmlns:a="http://schemas.openxmlformats.org/drawingml/2006/main" noGrp="1"/>
          </p:cNvSpPr>
          <p:nvPr/>
        </p:nvSpPr>
        <p:spPr>
          <a:xfrm xmlns:a="http://schemas.openxmlformats.org/drawingml/2006/main">
            <a:off x="533400" y="559117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7067"/>
                </a:solidFill>
                <a:latin typeface="Arial"/>
                <a:ea typeface="Arial"/>
                <a:cs typeface="Arial"/>
              </a:defRPr>
            </a:pPr>
            <a:r>
              <a:rPr sz="1800" b="0">
                <a:solidFill>
                  <a:srgbClr val="5C7067"/>
                </a:solidFill>
                <a:latin typeface="Arial"/>
                <a:ea typeface="Arial"/>
                <a:cs typeface="Arial"/>
              </a:rPr>
              <a:t>Основа для вопросов и очной проверки</a:t>
            </a:r>
          </a:p>
        </p:txBody>
      </p:sp>
      <p:sp>
        <p:nvSpPr>
          <p:cNvPr id="12" name="Для пациента">
            <a:extLst xmlns:a="http://schemas.openxmlformats.org/drawingml/2006/main">
              <a:ext uri="{FF2B5EF4-FFF2-40B4-BE49-F238E27FC236}">
                <a16:creationId xmlns:a16="http://schemas.microsoft.com/office/drawing/2014/main" id="{EFC968D0-C04A-4629-81AE-8E8C62737115}"/>
              </a:ext>
            </a:extLst>
          </p:cNvPr>
          <p:cNvSpPr>
            <a:spLocks xmlns:a="http://schemas.openxmlformats.org/drawingml/2006/main" noGrp="1"/>
          </p:cNvSpPr>
          <p:nvPr/>
        </p:nvSpPr>
        <p:spPr>
          <a:xfrm xmlns:a="http://schemas.openxmlformats.org/drawingml/2006/main">
            <a:off x="6477000" y="20097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3C34"/>
                </a:solidFill>
                <a:latin typeface="Arial"/>
                <a:ea typeface="Arial"/>
                <a:cs typeface="Arial"/>
              </a:defRPr>
            </a:pPr>
            <a:r>
              <a:rPr sz="2550" b="1">
                <a:solidFill>
                  <a:srgbClr val="173C34"/>
                </a:solidFill>
                <a:latin typeface="Arial"/>
                <a:ea typeface="Arial"/>
                <a:cs typeface="Arial"/>
              </a:rPr>
              <a:t>Для пациента</a:t>
            </a:r>
          </a:p>
        </p:txBody>
      </p:sp>
      <p:sp>
        <p:nvSpPr>
          <p:cNvPr id="13" name="Наглядное объяснение того,&#10;что видно на записи">
            <a:extLst xmlns:a="http://schemas.openxmlformats.org/drawingml/2006/main">
              <a:ext uri="{FF2B5EF4-FFF2-40B4-BE49-F238E27FC236}">
                <a16:creationId xmlns:a16="http://schemas.microsoft.com/office/drawing/2014/main" id="{64F63DDF-36D5-41C3-BA06-B3472734A5F9}"/>
              </a:ext>
            </a:extLst>
          </p:cNvPr>
          <p:cNvSpPr>
            <a:spLocks xmlns:a="http://schemas.openxmlformats.org/drawingml/2006/main" noGrp="1"/>
          </p:cNvSpPr>
          <p:nvPr/>
        </p:nvSpPr>
        <p:spPr>
          <a:xfrm xmlns:a="http://schemas.openxmlformats.org/drawingml/2006/main">
            <a:off x="6477000" y="275272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C34"/>
                </a:solidFill>
                <a:latin typeface="Arial"/>
                <a:ea typeface="Arial"/>
                <a:cs typeface="Arial"/>
              </a:defRPr>
            </a:pPr>
            <a:r>
              <a:rPr sz="2175" b="0">
                <a:solidFill>
                  <a:srgbClr val="173C34"/>
                </a:solidFill>
                <a:latin typeface="Arial"/>
                <a:ea typeface="Arial"/>
                <a:cs typeface="Arial"/>
              </a:rPr>
              <a:t>Наглядное объяснение того,</a:t>
            </a:r>
          </a:p>
          <a:p xmlns:a="http://schemas.openxmlformats.org/drawingml/2006/main">
            <a:pPr>
              <a:defRPr sz="2175" b="0">
                <a:solidFill>
                  <a:srgbClr val="173C34"/>
                </a:solidFill>
                <a:latin typeface="Arial"/>
                <a:ea typeface="Arial"/>
                <a:cs typeface="Arial"/>
              </a:defRPr>
            </a:pPr>
            <a:r>
              <a:rPr sz="2175" b="0">
                <a:solidFill>
                  <a:srgbClr val="173C34"/>
                </a:solidFill>
                <a:latin typeface="Arial"/>
                <a:ea typeface="Arial"/>
                <a:cs typeface="Arial"/>
              </a:rPr>
              <a:t>что видно на записи</a:t>
            </a:r>
          </a:p>
        </p:txBody>
      </p:sp>
      <p:sp>
        <p:nvSpPr>
          <p:cNvPr id="14" name="Бытовые трудности и личные цели&#10;рядом с результата">
            <a:extLst xmlns:a="http://schemas.openxmlformats.org/drawingml/2006/main">
              <a:ext uri="{FF2B5EF4-FFF2-40B4-BE49-F238E27FC236}">
                <a16:creationId xmlns:a16="http://schemas.microsoft.com/office/drawing/2014/main" id="{CC5FBA61-FFDA-49B9-9024-0C8CC3E55497}"/>
              </a:ext>
            </a:extLst>
          </p:cNvPr>
          <p:cNvSpPr>
            <a:spLocks xmlns:a="http://schemas.openxmlformats.org/drawingml/2006/main" noGrp="1"/>
          </p:cNvSpPr>
          <p:nvPr/>
        </p:nvSpPr>
        <p:spPr>
          <a:xfrm xmlns:a="http://schemas.openxmlformats.org/drawingml/2006/main">
            <a:off x="6477000" y="40005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C34"/>
                </a:solidFill>
                <a:latin typeface="Arial"/>
                <a:ea typeface="Arial"/>
                <a:cs typeface="Arial"/>
              </a:defRPr>
            </a:pPr>
            <a:r>
              <a:rPr sz="2025" b="0">
                <a:solidFill>
                  <a:srgbClr val="173C34"/>
                </a:solidFill>
                <a:latin typeface="Arial"/>
                <a:ea typeface="Arial"/>
                <a:cs typeface="Arial"/>
              </a:rPr>
              <a:t>Бытовые трудности и личные цели</a:t>
            </a:r>
          </a:p>
          <a:p xmlns:a="http://schemas.openxmlformats.org/drawingml/2006/main">
            <a:pPr>
              <a:defRPr sz="2025" b="0">
                <a:solidFill>
                  <a:srgbClr val="173C34"/>
                </a:solidFill>
                <a:latin typeface="Arial"/>
                <a:ea typeface="Arial"/>
                <a:cs typeface="Arial"/>
              </a:defRPr>
            </a:pPr>
            <a:r>
              <a:rPr sz="2025" b="0">
                <a:solidFill>
                  <a:srgbClr val="173C34"/>
                </a:solidFill>
                <a:latin typeface="Arial"/>
                <a:ea typeface="Arial"/>
                <a:cs typeface="Arial"/>
              </a:rPr>
              <a:t>рядом с результатами измерений</a:t>
            </a:r>
          </a:p>
        </p:txBody>
      </p:sp>
      <p:sp>
        <p:nvSpPr>
          <p:cNvPr id="15" name="">
            <a:extLst xmlns:a="http://schemas.openxmlformats.org/drawingml/2006/main">
              <a:ext uri="{FF2B5EF4-FFF2-40B4-BE49-F238E27FC236}">
                <a16:creationId xmlns:a16="http://schemas.microsoft.com/office/drawing/2014/main" id="{2D50306B-7055-486D-9AD1-39DB19EFE5A8}"/>
              </a:ext>
            </a:extLst>
          </p:cNvPr>
          <p:cNvSpPr>
            <a:spLocks xmlns:a="http://schemas.openxmlformats.org/drawingml/2006/main" noGrp="1"/>
          </p:cNvSpPr>
          <p:nvPr/>
        </p:nvSpPr>
        <p:spPr>
          <a:xfrm xmlns:a="http://schemas.openxmlformats.org/drawingml/2006/main">
            <a:off x="6477000" y="5362575"/>
            <a:ext cx="51435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16" name="План лечения согласуется с врачом">
            <a:extLst xmlns:a="http://schemas.openxmlformats.org/drawingml/2006/main">
              <a:ext uri="{FF2B5EF4-FFF2-40B4-BE49-F238E27FC236}">
                <a16:creationId xmlns:a16="http://schemas.microsoft.com/office/drawing/2014/main" id="{2FD6CC10-DDFB-4D35-976F-D360245E3964}"/>
              </a:ext>
            </a:extLst>
          </p:cNvPr>
          <p:cNvSpPr>
            <a:spLocks xmlns:a="http://schemas.openxmlformats.org/drawingml/2006/main" noGrp="1"/>
          </p:cNvSpPr>
          <p:nvPr/>
        </p:nvSpPr>
        <p:spPr>
          <a:xfrm xmlns:a="http://schemas.openxmlformats.org/drawingml/2006/main">
            <a:off x="6477000" y="559117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7067"/>
                </a:solidFill>
                <a:latin typeface="Arial"/>
                <a:ea typeface="Arial"/>
                <a:cs typeface="Arial"/>
              </a:defRPr>
            </a:pPr>
            <a:r>
              <a:rPr sz="1800" b="0">
                <a:solidFill>
                  <a:srgbClr val="5C7067"/>
                </a:solidFill>
                <a:latin typeface="Arial"/>
                <a:ea typeface="Arial"/>
                <a:cs typeface="Arial"/>
              </a:rPr>
              <a:t>План лечения согласуется с врачом</a:t>
            </a:r>
          </a:p>
        </p:txBody>
      </p:sp>
    </p:spTree>
    <p:extLst>
      <p:ext uri="{BB962C8B-B14F-4D97-AF65-F5344CB8AC3E}">
        <p14:creationId xmlns:p14="http://schemas.microsoft.com/office/powerpoint/2010/main" val="51959751"/>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5" name="Работа с исследованием">
            <a:extLst xmlns:a="http://schemas.openxmlformats.org/drawingml/2006/main">
              <a:ext uri="{FF2B5EF4-FFF2-40B4-BE49-F238E27FC236}">
                <a16:creationId xmlns:a16="http://schemas.microsoft.com/office/drawing/2014/main" id="{0909447D-ACEC-454F-9B8C-B06415BE9C6B}"/>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Работа с исследованием</a:t>
            </a:r>
          </a:p>
        </p:txBody>
      </p:sp>
      <p:sp>
        <p:nvSpPr>
          <p:cNvPr id="2" name="Видео и анкета сохраняются вместе в локальном иссл">
            <a:extLst xmlns:a="http://schemas.openxmlformats.org/drawingml/2006/main">
              <a:ext uri="{FF2B5EF4-FFF2-40B4-BE49-F238E27FC236}">
                <a16:creationId xmlns:a16="http://schemas.microsoft.com/office/drawing/2014/main" id="{7EB965E5-B97C-4CDE-8461-9B3322589634}"/>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Видео и анкета сохраняются вместе в локальном исследовании.</a:t>
            </a:r>
          </a:p>
        </p:txBody>
      </p:sp>
      <p:sp>
        <p:nvSpPr>
          <p:cNvPr id="3" name="">
            <a:extLst xmlns:a="http://schemas.openxmlformats.org/drawingml/2006/main">
              <a:ext uri="{FF2B5EF4-FFF2-40B4-BE49-F238E27FC236}">
                <a16:creationId xmlns:a16="http://schemas.microsoft.com/office/drawing/2014/main" id="{514790FA-AFB2-4C94-8D1D-19E8EE5FA25B}"/>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5596FB40-22B0-4509-B73E-7EECB8B3F6B5}"/>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5DA7DB3B-4EEE-4F03-871E-667D0F8E2372}"/>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03">
            <a:extLst xmlns:a="http://schemas.openxmlformats.org/drawingml/2006/main">
              <a:ext uri="{FF2B5EF4-FFF2-40B4-BE49-F238E27FC236}">
                <a16:creationId xmlns:a16="http://schemas.microsoft.com/office/drawing/2014/main" id="{DF39A43A-F07E-43F4-8B06-21EBE416DC95}"/>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03</a:t>
            </a:r>
          </a:p>
        </p:txBody>
      </p:sp>
      <p:sp>
        <p:nvSpPr>
          <p:cNvPr id="7" name="01  Видео и задание">
            <a:extLst xmlns:a="http://schemas.openxmlformats.org/drawingml/2006/main">
              <a:ext uri="{FF2B5EF4-FFF2-40B4-BE49-F238E27FC236}">
                <a16:creationId xmlns:a16="http://schemas.microsoft.com/office/drawing/2014/main" id="{77D0F99B-D75E-4FAA-8209-35E4D41D21BF}"/>
              </a:ext>
            </a:extLst>
          </p:cNvPr>
          <p:cNvSpPr>
            <a:spLocks xmlns:a="http://schemas.openxmlformats.org/drawingml/2006/main" noGrp="1"/>
          </p:cNvSpPr>
          <p:nvPr/>
        </p:nvSpPr>
        <p:spPr>
          <a:xfrm xmlns:a="http://schemas.openxmlformats.org/drawingml/2006/main">
            <a:off x="533400" y="185737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73C34"/>
                </a:solidFill>
                <a:latin typeface="Arial"/>
                <a:ea typeface="Arial"/>
                <a:cs typeface="Arial"/>
              </a:defRPr>
            </a:pPr>
            <a:r>
              <a:rPr sz="2175" b="1">
                <a:solidFill>
                  <a:srgbClr val="173C34"/>
                </a:solidFill>
                <a:latin typeface="Arial"/>
                <a:ea typeface="Arial"/>
                <a:cs typeface="Arial"/>
              </a:rPr>
              <a:t>01  Видео и задание</a:t>
            </a:r>
          </a:p>
        </p:txBody>
      </p:sp>
      <p:sp>
        <p:nvSpPr>
          <p:cNvPr id="8" name="Загрузка MP4, MOV или WebM.&#10;Выбор стороны и движен">
            <a:extLst xmlns:a="http://schemas.openxmlformats.org/drawingml/2006/main">
              <a:ext uri="{FF2B5EF4-FFF2-40B4-BE49-F238E27FC236}">
                <a16:creationId xmlns:a16="http://schemas.microsoft.com/office/drawing/2014/main" id="{7533139C-FA2D-42BA-9373-A16213A638D4}"/>
              </a:ext>
            </a:extLst>
          </p:cNvPr>
          <p:cNvSpPr>
            <a:spLocks xmlns:a="http://schemas.openxmlformats.org/drawingml/2006/main" noGrp="1"/>
          </p:cNvSpPr>
          <p:nvPr/>
        </p:nvSpPr>
        <p:spPr>
          <a:xfrm xmlns:a="http://schemas.openxmlformats.org/drawingml/2006/main">
            <a:off x="533400" y="2438400"/>
            <a:ext cx="323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Загрузка MP4, MOV или WebM.</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Выбор стороны и движения.</a:t>
            </a:r>
          </a:p>
        </p:txBody>
      </p:sp>
      <p:sp>
        <p:nvSpPr>
          <p:cNvPr id="9" name="02  Обработка">
            <a:extLst xmlns:a="http://schemas.openxmlformats.org/drawingml/2006/main">
              <a:ext uri="{FF2B5EF4-FFF2-40B4-BE49-F238E27FC236}">
                <a16:creationId xmlns:a16="http://schemas.microsoft.com/office/drawing/2014/main" id="{972002C6-6748-41D3-AC22-B1B7194DECA0}"/>
              </a:ext>
            </a:extLst>
          </p:cNvPr>
          <p:cNvSpPr>
            <a:spLocks xmlns:a="http://schemas.openxmlformats.org/drawingml/2006/main" noGrp="1"/>
          </p:cNvSpPr>
          <p:nvPr/>
        </p:nvSpPr>
        <p:spPr>
          <a:xfrm xmlns:a="http://schemas.openxmlformats.org/drawingml/2006/main">
            <a:off x="533400" y="367665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73C34"/>
                </a:solidFill>
                <a:latin typeface="Arial"/>
                <a:ea typeface="Arial"/>
                <a:cs typeface="Arial"/>
              </a:defRPr>
            </a:pPr>
            <a:r>
              <a:rPr sz="2175" b="1">
                <a:solidFill>
                  <a:srgbClr val="173C34"/>
                </a:solidFill>
                <a:latin typeface="Arial"/>
                <a:ea typeface="Arial"/>
                <a:cs typeface="Arial"/>
              </a:rPr>
              <a:t>02  Обработка</a:t>
            </a:r>
          </a:p>
        </p:txBody>
      </p:sp>
      <p:sp>
        <p:nvSpPr>
          <p:cNvPr id="10" name="Распознавание суставов&#10;и расчёт показателей.">
            <a:extLst xmlns:a="http://schemas.openxmlformats.org/drawingml/2006/main">
              <a:ext uri="{FF2B5EF4-FFF2-40B4-BE49-F238E27FC236}">
                <a16:creationId xmlns:a16="http://schemas.microsoft.com/office/drawing/2014/main" id="{901CCA0A-3371-4456-9B2E-F52E091757AE}"/>
              </a:ext>
            </a:extLst>
          </p:cNvPr>
          <p:cNvSpPr>
            <a:spLocks xmlns:a="http://schemas.openxmlformats.org/drawingml/2006/main" noGrp="1"/>
          </p:cNvSpPr>
          <p:nvPr/>
        </p:nvSpPr>
        <p:spPr>
          <a:xfrm xmlns:a="http://schemas.openxmlformats.org/drawingml/2006/main">
            <a:off x="533400" y="4238625"/>
            <a:ext cx="323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Распознавание суставов</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и расчёт показателей.</a:t>
            </a:r>
          </a:p>
        </p:txBody>
      </p:sp>
      <p:sp>
        <p:nvSpPr>
          <p:cNvPr id="11" name="03  Просмотр">
            <a:extLst xmlns:a="http://schemas.openxmlformats.org/drawingml/2006/main">
              <a:ext uri="{FF2B5EF4-FFF2-40B4-BE49-F238E27FC236}">
                <a16:creationId xmlns:a16="http://schemas.microsoft.com/office/drawing/2014/main" id="{8F5D188C-D55C-41B5-9885-40C46CBFB473}"/>
              </a:ext>
            </a:extLst>
          </p:cNvPr>
          <p:cNvSpPr>
            <a:spLocks xmlns:a="http://schemas.openxmlformats.org/drawingml/2006/main" noGrp="1"/>
          </p:cNvSpPr>
          <p:nvPr/>
        </p:nvSpPr>
        <p:spPr>
          <a:xfrm xmlns:a="http://schemas.openxmlformats.org/drawingml/2006/main">
            <a:off x="533400" y="538162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73C34"/>
                </a:solidFill>
                <a:latin typeface="Arial"/>
                <a:ea typeface="Arial"/>
                <a:cs typeface="Arial"/>
              </a:defRPr>
            </a:pPr>
            <a:r>
              <a:rPr sz="2175" b="1">
                <a:solidFill>
                  <a:srgbClr val="173C34"/>
                </a:solidFill>
                <a:latin typeface="Arial"/>
                <a:ea typeface="Arial"/>
                <a:cs typeface="Arial"/>
              </a:rPr>
              <a:t>03  Просмотр</a:t>
            </a:r>
          </a:p>
        </p:txBody>
      </p:sp>
      <p:sp>
        <p:nvSpPr>
          <p:cNvPr id="12" name="Видео, графики и отчёт.">
            <a:extLst xmlns:a="http://schemas.openxmlformats.org/drawingml/2006/main">
              <a:ext uri="{FF2B5EF4-FFF2-40B4-BE49-F238E27FC236}">
                <a16:creationId xmlns:a16="http://schemas.microsoft.com/office/drawing/2014/main" id="{95827878-59CF-46A5-8DC3-8C2786CA07BB}"/>
              </a:ext>
            </a:extLst>
          </p:cNvPr>
          <p:cNvSpPr>
            <a:spLocks xmlns:a="http://schemas.openxmlformats.org/drawingml/2006/main" noGrp="1"/>
          </p:cNvSpPr>
          <p:nvPr/>
        </p:nvSpPr>
        <p:spPr>
          <a:xfrm xmlns:a="http://schemas.openxmlformats.org/drawingml/2006/main">
            <a:off x="533400" y="585787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Видео, графики и отчёт.</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0d60e7f7e8f46b4"/>
          <a:stretch xmlns:a="http://schemas.openxmlformats.org/drawingml/2006/main"/>
        </p:blipFill>
        <p:spPr>
          <a:xfrm xmlns:a="http://schemas.openxmlformats.org/drawingml/2006/main">
            <a:off x="4095750" y="1881208"/>
            <a:ext cx="7562850" cy="4000458"/>
          </a:xfrm>
          <a:prstGeom xmlns:a="http://schemas.openxmlformats.org/drawingml/2006/main" prst="rect">
            <a:avLst/>
          </a:prstGeom>
        </p:spPr>
      </p:pic>
      <p:sp>
        <p:nvSpPr>
          <p:cNvPr id="14" name="Экран загрузки. До 300 МБ и до 3 минут видео.">
            <a:extLst xmlns:a="http://schemas.openxmlformats.org/drawingml/2006/main">
              <a:ext uri="{FF2B5EF4-FFF2-40B4-BE49-F238E27FC236}">
                <a16:creationId xmlns:a16="http://schemas.microsoft.com/office/drawing/2014/main" id="{6F7B0EAA-47DE-4F2E-8455-DA01A706B640}"/>
              </a:ext>
            </a:extLst>
          </p:cNvPr>
          <p:cNvSpPr>
            <a:spLocks xmlns:a="http://schemas.openxmlformats.org/drawingml/2006/main" noGrp="1"/>
          </p:cNvSpPr>
          <p:nvPr/>
        </p:nvSpPr>
        <p:spPr>
          <a:xfrm xmlns:a="http://schemas.openxmlformats.org/drawingml/2006/main">
            <a:off x="4095750" y="6105525"/>
            <a:ext cx="756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C7067"/>
                </a:solidFill>
                <a:latin typeface="Arial"/>
                <a:ea typeface="Arial"/>
                <a:cs typeface="Arial"/>
              </a:defRPr>
            </a:pPr>
            <a:r>
              <a:rPr sz="1200" b="0">
                <a:solidFill>
                  <a:srgbClr val="5C7067"/>
                </a:solidFill>
                <a:latin typeface="Arial"/>
                <a:ea typeface="Arial"/>
                <a:cs typeface="Arial"/>
              </a:rPr>
              <a:t>Экран загрузки. До 300 МБ и до 3 минут видео.</a:t>
            </a:r>
          </a:p>
        </p:txBody>
      </p:sp>
    </p:spTree>
    <p:extLst>
      <p:ext uri="{BB962C8B-B14F-4D97-AF65-F5344CB8AC3E}">
        <p14:creationId xmlns:p14="http://schemas.microsoft.com/office/powerpoint/2010/main" val="1929318523"/>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1" name="Анкета пациента">
            <a:extLst xmlns:a="http://schemas.openxmlformats.org/drawingml/2006/main">
              <a:ext uri="{FF2B5EF4-FFF2-40B4-BE49-F238E27FC236}">
                <a16:creationId xmlns:a16="http://schemas.microsoft.com/office/drawing/2014/main" id="{314B17E4-E4BD-4C3D-8EF3-72FDD5E0D2B1}"/>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Анкета пациента</a:t>
            </a:r>
          </a:p>
        </p:txBody>
      </p:sp>
      <p:sp>
        <p:nvSpPr>
          <p:cNvPr id="2" name="ФИО и контакты не нужны. Для связи с записью испол">
            <a:extLst xmlns:a="http://schemas.openxmlformats.org/drawingml/2006/main">
              <a:ext uri="{FF2B5EF4-FFF2-40B4-BE49-F238E27FC236}">
                <a16:creationId xmlns:a16="http://schemas.microsoft.com/office/drawing/2014/main" id="{C4535667-A794-40B8-B418-838AA030F655}"/>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ФИО и контакты не нужны. Для связи с записью используется код пациента.</a:t>
            </a:r>
          </a:p>
        </p:txBody>
      </p:sp>
      <p:sp>
        <p:nvSpPr>
          <p:cNvPr id="3" name="">
            <a:extLst xmlns:a="http://schemas.openxmlformats.org/drawingml/2006/main">
              <a:ext uri="{FF2B5EF4-FFF2-40B4-BE49-F238E27FC236}">
                <a16:creationId xmlns:a16="http://schemas.microsoft.com/office/drawing/2014/main" id="{FF9D1E5A-7589-41A7-84BB-C359317C519A}"/>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5EAA410C-A048-468F-A71B-EF605319CB8C}"/>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AE655354-68AE-4D59-9677-63711E8F0B1A}"/>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04">
            <a:extLst xmlns:a="http://schemas.openxmlformats.org/drawingml/2006/main">
              <a:ext uri="{FF2B5EF4-FFF2-40B4-BE49-F238E27FC236}">
                <a16:creationId xmlns:a16="http://schemas.microsoft.com/office/drawing/2014/main" id="{2BEAF12B-0F31-43B1-9BA7-46C794F5BB4C}"/>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04</a:t>
            </a:r>
          </a:p>
        </p:txBody>
      </p:sp>
      <p:sp>
        <p:nvSpPr>
          <p:cNvPr id="7" name="Пять групп сведений">
            <a:extLst xmlns:a="http://schemas.openxmlformats.org/drawingml/2006/main">
              <a:ext uri="{FF2B5EF4-FFF2-40B4-BE49-F238E27FC236}">
                <a16:creationId xmlns:a16="http://schemas.microsoft.com/office/drawing/2014/main" id="{CA19CD87-5C33-4352-9BB9-395B83A13992}"/>
              </a:ext>
            </a:extLst>
          </p:cNvPr>
          <p:cNvSpPr>
            <a:spLocks xmlns:a="http://schemas.openxmlformats.org/drawingml/2006/main" noGrp="1"/>
          </p:cNvSpPr>
          <p:nvPr/>
        </p:nvSpPr>
        <p:spPr>
          <a:xfrm xmlns:a="http://schemas.openxmlformats.org/drawingml/2006/main">
            <a:off x="533400" y="18573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73C34"/>
                </a:solidFill>
                <a:latin typeface="Arial"/>
                <a:ea typeface="Arial"/>
                <a:cs typeface="Arial"/>
              </a:defRPr>
            </a:pPr>
            <a:r>
              <a:rPr sz="2175" b="1">
                <a:solidFill>
                  <a:srgbClr val="173C34"/>
                </a:solidFill>
                <a:latin typeface="Arial"/>
                <a:ea typeface="Arial"/>
                <a:cs typeface="Arial"/>
              </a:rPr>
              <a:t>Пять групп сведений</a:t>
            </a:r>
          </a:p>
        </p:txBody>
      </p:sp>
      <p:sp>
        <p:nvSpPr>
          <p:cNvPr id="8" name="01">
            <a:extLst xmlns:a="http://schemas.openxmlformats.org/drawingml/2006/main">
              <a:ext uri="{FF2B5EF4-FFF2-40B4-BE49-F238E27FC236}">
                <a16:creationId xmlns:a16="http://schemas.microsoft.com/office/drawing/2014/main" id="{B81209EC-DC84-4BB3-A2AA-8DD13AA997E8}"/>
              </a:ext>
            </a:extLst>
          </p:cNvPr>
          <p:cNvSpPr>
            <a:spLocks xmlns:a="http://schemas.openxmlformats.org/drawingml/2006/main" noGrp="1"/>
          </p:cNvSpPr>
          <p:nvPr/>
        </p:nvSpPr>
        <p:spPr>
          <a:xfrm xmlns:a="http://schemas.openxmlformats.org/drawingml/2006/main">
            <a:off x="533400" y="25336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28A70"/>
                </a:solidFill>
                <a:latin typeface="Arial"/>
                <a:ea typeface="Arial"/>
                <a:cs typeface="Arial"/>
              </a:defRPr>
            </a:pPr>
            <a:r>
              <a:rPr sz="1725" b="0">
                <a:solidFill>
                  <a:srgbClr val="328A70"/>
                </a:solidFill>
                <a:latin typeface="Arial"/>
                <a:ea typeface="Arial"/>
                <a:cs typeface="Arial"/>
              </a:rPr>
              <a:t>01</a:t>
            </a:r>
          </a:p>
        </p:txBody>
      </p:sp>
      <p:sp>
        <p:nvSpPr>
          <p:cNvPr id="9" name="Общие сведения">
            <a:extLst xmlns:a="http://schemas.openxmlformats.org/drawingml/2006/main">
              <a:ext uri="{FF2B5EF4-FFF2-40B4-BE49-F238E27FC236}">
                <a16:creationId xmlns:a16="http://schemas.microsoft.com/office/drawing/2014/main" id="{454A6836-9DA1-4F4B-9834-B585D5889086}"/>
              </a:ext>
            </a:extLst>
          </p:cNvPr>
          <p:cNvSpPr>
            <a:spLocks xmlns:a="http://schemas.openxmlformats.org/drawingml/2006/main" noGrp="1"/>
          </p:cNvSpPr>
          <p:nvPr/>
        </p:nvSpPr>
        <p:spPr>
          <a:xfrm xmlns:a="http://schemas.openxmlformats.org/drawingml/2006/main">
            <a:off x="1066800" y="2533650"/>
            <a:ext cx="2743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3C34"/>
                </a:solidFill>
                <a:latin typeface="Arial"/>
                <a:ea typeface="Arial"/>
                <a:cs typeface="Arial"/>
              </a:defRPr>
            </a:pPr>
            <a:r>
              <a:rPr sz="1725" b="0">
                <a:solidFill>
                  <a:srgbClr val="173C34"/>
                </a:solidFill>
                <a:latin typeface="Arial"/>
                <a:ea typeface="Arial"/>
                <a:cs typeface="Arial"/>
              </a:rPr>
              <a:t>Общие сведения</a:t>
            </a:r>
          </a:p>
        </p:txBody>
      </p:sp>
      <p:sp>
        <p:nvSpPr>
          <p:cNvPr id="10" name="02">
            <a:extLst xmlns:a="http://schemas.openxmlformats.org/drawingml/2006/main">
              <a:ext uri="{FF2B5EF4-FFF2-40B4-BE49-F238E27FC236}">
                <a16:creationId xmlns:a16="http://schemas.microsoft.com/office/drawing/2014/main" id="{93263522-CC89-4683-8C0D-28920F903796}"/>
              </a:ext>
            </a:extLst>
          </p:cNvPr>
          <p:cNvSpPr>
            <a:spLocks xmlns:a="http://schemas.openxmlformats.org/drawingml/2006/main" noGrp="1"/>
          </p:cNvSpPr>
          <p:nvPr/>
        </p:nvSpPr>
        <p:spPr>
          <a:xfrm xmlns:a="http://schemas.openxmlformats.org/drawingml/2006/main">
            <a:off x="533400" y="3152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28A70"/>
                </a:solidFill>
                <a:latin typeface="Arial"/>
                <a:ea typeface="Arial"/>
                <a:cs typeface="Arial"/>
              </a:defRPr>
            </a:pPr>
            <a:r>
              <a:rPr sz="1725" b="0">
                <a:solidFill>
                  <a:srgbClr val="328A70"/>
                </a:solidFill>
                <a:latin typeface="Arial"/>
                <a:ea typeface="Arial"/>
                <a:cs typeface="Arial"/>
              </a:rPr>
              <a:t>02</a:t>
            </a:r>
          </a:p>
        </p:txBody>
      </p:sp>
      <p:sp>
        <p:nvSpPr>
          <p:cNvPr id="11" name="История болезни">
            <a:extLst xmlns:a="http://schemas.openxmlformats.org/drawingml/2006/main">
              <a:ext uri="{FF2B5EF4-FFF2-40B4-BE49-F238E27FC236}">
                <a16:creationId xmlns:a16="http://schemas.microsoft.com/office/drawing/2014/main" id="{5C0573D8-F9F0-4B0F-8524-035B71EA4B9B}"/>
              </a:ext>
            </a:extLst>
          </p:cNvPr>
          <p:cNvSpPr>
            <a:spLocks xmlns:a="http://schemas.openxmlformats.org/drawingml/2006/main" noGrp="1"/>
          </p:cNvSpPr>
          <p:nvPr/>
        </p:nvSpPr>
        <p:spPr>
          <a:xfrm xmlns:a="http://schemas.openxmlformats.org/drawingml/2006/main">
            <a:off x="1066800" y="3152775"/>
            <a:ext cx="2743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3C34"/>
                </a:solidFill>
                <a:latin typeface="Arial"/>
                <a:ea typeface="Arial"/>
                <a:cs typeface="Arial"/>
              </a:defRPr>
            </a:pPr>
            <a:r>
              <a:rPr sz="1725" b="0">
                <a:solidFill>
                  <a:srgbClr val="173C34"/>
                </a:solidFill>
                <a:latin typeface="Arial"/>
                <a:ea typeface="Arial"/>
                <a:cs typeface="Arial"/>
              </a:rPr>
              <a:t>История болезни</a:t>
            </a:r>
          </a:p>
        </p:txBody>
      </p:sp>
      <p:sp>
        <p:nvSpPr>
          <p:cNvPr id="12" name="03">
            <a:extLst xmlns:a="http://schemas.openxmlformats.org/drawingml/2006/main">
              <a:ext uri="{FF2B5EF4-FFF2-40B4-BE49-F238E27FC236}">
                <a16:creationId xmlns:a16="http://schemas.microsoft.com/office/drawing/2014/main" id="{2982D1B9-E072-4619-928A-882DE4650060}"/>
              </a:ext>
            </a:extLst>
          </p:cNvPr>
          <p:cNvSpPr>
            <a:spLocks xmlns:a="http://schemas.openxmlformats.org/drawingml/2006/main" noGrp="1"/>
          </p:cNvSpPr>
          <p:nvPr/>
        </p:nvSpPr>
        <p:spPr>
          <a:xfrm xmlns:a="http://schemas.openxmlformats.org/drawingml/2006/main">
            <a:off x="533400" y="377190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28A70"/>
                </a:solidFill>
                <a:latin typeface="Arial"/>
                <a:ea typeface="Arial"/>
                <a:cs typeface="Arial"/>
              </a:defRPr>
            </a:pPr>
            <a:r>
              <a:rPr sz="1725" b="0">
                <a:solidFill>
                  <a:srgbClr val="328A70"/>
                </a:solidFill>
                <a:latin typeface="Arial"/>
                <a:ea typeface="Arial"/>
                <a:cs typeface="Arial"/>
              </a:rPr>
              <a:t>03</a:t>
            </a:r>
          </a:p>
        </p:txBody>
      </p:sp>
      <p:sp>
        <p:nvSpPr>
          <p:cNvPr id="13" name="Безопасность и ограничения">
            <a:extLst xmlns:a="http://schemas.openxmlformats.org/drawingml/2006/main">
              <a:ext uri="{FF2B5EF4-FFF2-40B4-BE49-F238E27FC236}">
                <a16:creationId xmlns:a16="http://schemas.microsoft.com/office/drawing/2014/main" id="{68319D28-8802-4D65-B8C8-C0FFD762F57F}"/>
              </a:ext>
            </a:extLst>
          </p:cNvPr>
          <p:cNvSpPr>
            <a:spLocks xmlns:a="http://schemas.openxmlformats.org/drawingml/2006/main" noGrp="1"/>
          </p:cNvSpPr>
          <p:nvPr/>
        </p:nvSpPr>
        <p:spPr>
          <a:xfrm xmlns:a="http://schemas.openxmlformats.org/drawingml/2006/main">
            <a:off x="1066800" y="3771900"/>
            <a:ext cx="2743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3C34"/>
                </a:solidFill>
                <a:latin typeface="Arial"/>
                <a:ea typeface="Arial"/>
                <a:cs typeface="Arial"/>
              </a:defRPr>
            </a:pPr>
            <a:r>
              <a:rPr sz="1725" b="0">
                <a:solidFill>
                  <a:srgbClr val="173C34"/>
                </a:solidFill>
                <a:latin typeface="Arial"/>
                <a:ea typeface="Arial"/>
                <a:cs typeface="Arial"/>
              </a:rPr>
              <a:t>Безопасность и ограничения</a:t>
            </a:r>
          </a:p>
        </p:txBody>
      </p:sp>
      <p:sp>
        <p:nvSpPr>
          <p:cNvPr id="14" name="04">
            <a:extLst xmlns:a="http://schemas.openxmlformats.org/drawingml/2006/main">
              <a:ext uri="{FF2B5EF4-FFF2-40B4-BE49-F238E27FC236}">
                <a16:creationId xmlns:a16="http://schemas.microsoft.com/office/drawing/2014/main" id="{0E897433-23D5-4415-A583-0444DC8C7A22}"/>
              </a:ext>
            </a:extLst>
          </p:cNvPr>
          <p:cNvSpPr>
            <a:spLocks xmlns:a="http://schemas.openxmlformats.org/drawingml/2006/main" noGrp="1"/>
          </p:cNvSpPr>
          <p:nvPr/>
        </p:nvSpPr>
        <p:spPr>
          <a:xfrm xmlns:a="http://schemas.openxmlformats.org/drawingml/2006/main">
            <a:off x="533400" y="4391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28A70"/>
                </a:solidFill>
                <a:latin typeface="Arial"/>
                <a:ea typeface="Arial"/>
                <a:cs typeface="Arial"/>
              </a:defRPr>
            </a:pPr>
            <a:r>
              <a:rPr sz="1725" b="0">
                <a:solidFill>
                  <a:srgbClr val="328A70"/>
                </a:solidFill>
                <a:latin typeface="Arial"/>
                <a:ea typeface="Arial"/>
                <a:cs typeface="Arial"/>
              </a:rPr>
              <a:t>04</a:t>
            </a:r>
          </a:p>
        </p:txBody>
      </p:sp>
      <p:sp>
        <p:nvSpPr>
          <p:cNvPr id="15" name="Очная оценка руки">
            <a:extLst xmlns:a="http://schemas.openxmlformats.org/drawingml/2006/main">
              <a:ext uri="{FF2B5EF4-FFF2-40B4-BE49-F238E27FC236}">
                <a16:creationId xmlns:a16="http://schemas.microsoft.com/office/drawing/2014/main" id="{B41C3553-5E26-4585-942C-96E647A51335}"/>
              </a:ext>
            </a:extLst>
          </p:cNvPr>
          <p:cNvSpPr>
            <a:spLocks xmlns:a="http://schemas.openxmlformats.org/drawingml/2006/main" noGrp="1"/>
          </p:cNvSpPr>
          <p:nvPr/>
        </p:nvSpPr>
        <p:spPr>
          <a:xfrm xmlns:a="http://schemas.openxmlformats.org/drawingml/2006/main">
            <a:off x="1066800" y="4391025"/>
            <a:ext cx="2743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3C34"/>
                </a:solidFill>
                <a:latin typeface="Arial"/>
                <a:ea typeface="Arial"/>
                <a:cs typeface="Arial"/>
              </a:defRPr>
            </a:pPr>
            <a:r>
              <a:rPr sz="1725" b="0">
                <a:solidFill>
                  <a:srgbClr val="173C34"/>
                </a:solidFill>
                <a:latin typeface="Arial"/>
                <a:ea typeface="Arial"/>
                <a:cs typeface="Arial"/>
              </a:rPr>
              <a:t>Очная оценка руки</a:t>
            </a:r>
          </a:p>
        </p:txBody>
      </p:sp>
      <p:sp>
        <p:nvSpPr>
          <p:cNvPr id="16" name="05">
            <a:extLst xmlns:a="http://schemas.openxmlformats.org/drawingml/2006/main">
              <a:ext uri="{FF2B5EF4-FFF2-40B4-BE49-F238E27FC236}">
                <a16:creationId xmlns:a16="http://schemas.microsoft.com/office/drawing/2014/main" id="{26C34443-ACCC-4103-A333-0D8DE11FE5D1}"/>
              </a:ext>
            </a:extLst>
          </p:cNvPr>
          <p:cNvSpPr>
            <a:spLocks xmlns:a="http://schemas.openxmlformats.org/drawingml/2006/main" noGrp="1"/>
          </p:cNvSpPr>
          <p:nvPr/>
        </p:nvSpPr>
        <p:spPr>
          <a:xfrm xmlns:a="http://schemas.openxmlformats.org/drawingml/2006/main">
            <a:off x="533400" y="50101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28A70"/>
                </a:solidFill>
                <a:latin typeface="Arial"/>
                <a:ea typeface="Arial"/>
                <a:cs typeface="Arial"/>
              </a:defRPr>
            </a:pPr>
            <a:r>
              <a:rPr sz="1725" b="0">
                <a:solidFill>
                  <a:srgbClr val="328A70"/>
                </a:solidFill>
                <a:latin typeface="Arial"/>
                <a:ea typeface="Arial"/>
                <a:cs typeface="Arial"/>
              </a:rPr>
              <a:t>05</a:t>
            </a:r>
          </a:p>
        </p:txBody>
      </p:sp>
      <p:sp>
        <p:nvSpPr>
          <p:cNvPr id="17" name="Цели и условия реабилитации">
            <a:extLst xmlns:a="http://schemas.openxmlformats.org/drawingml/2006/main">
              <a:ext uri="{FF2B5EF4-FFF2-40B4-BE49-F238E27FC236}">
                <a16:creationId xmlns:a16="http://schemas.microsoft.com/office/drawing/2014/main" id="{93A93358-3614-4FBB-8FEA-29CD597F9B9C}"/>
              </a:ext>
            </a:extLst>
          </p:cNvPr>
          <p:cNvSpPr>
            <a:spLocks xmlns:a="http://schemas.openxmlformats.org/drawingml/2006/main" noGrp="1"/>
          </p:cNvSpPr>
          <p:nvPr/>
        </p:nvSpPr>
        <p:spPr>
          <a:xfrm xmlns:a="http://schemas.openxmlformats.org/drawingml/2006/main">
            <a:off x="1066800" y="5010150"/>
            <a:ext cx="2743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3C34"/>
                </a:solidFill>
                <a:latin typeface="Arial"/>
                <a:ea typeface="Arial"/>
                <a:cs typeface="Arial"/>
              </a:defRPr>
            </a:pPr>
            <a:r>
              <a:rPr sz="1725" b="0">
                <a:solidFill>
                  <a:srgbClr val="173C34"/>
                </a:solidFill>
                <a:latin typeface="Arial"/>
                <a:ea typeface="Arial"/>
                <a:cs typeface="Arial"/>
              </a:rPr>
              <a:t>Цели и условия реабилитации</a:t>
            </a:r>
          </a:p>
        </p:txBody>
      </p:sp>
      <p:sp>
        <p:nvSpPr>
          <p:cNvPr id="18" name="Неизвестные данные можно&#10;дополнить после анализа.">
            <a:extLst xmlns:a="http://schemas.openxmlformats.org/drawingml/2006/main">
              <a:ext uri="{FF2B5EF4-FFF2-40B4-BE49-F238E27FC236}">
                <a16:creationId xmlns:a16="http://schemas.microsoft.com/office/drawing/2014/main" id="{87506C59-2B6D-441B-8566-0FC241B517D4}"/>
              </a:ext>
            </a:extLst>
          </p:cNvPr>
          <p:cNvSpPr>
            <a:spLocks xmlns:a="http://schemas.openxmlformats.org/drawingml/2006/main" noGrp="1"/>
          </p:cNvSpPr>
          <p:nvPr/>
        </p:nvSpPr>
        <p:spPr>
          <a:xfrm xmlns:a="http://schemas.openxmlformats.org/drawingml/2006/main">
            <a:off x="533400" y="5600700"/>
            <a:ext cx="3219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Неизвестные данные можно</a:t>
            </a:r>
          </a:p>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дополнить после анализа.</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d56b4eb6f3640ec"/>
          <a:stretch xmlns:a="http://schemas.openxmlformats.org/drawingml/2006/main"/>
        </p:blipFill>
        <p:spPr>
          <a:xfrm xmlns:a="http://schemas.openxmlformats.org/drawingml/2006/main">
            <a:off x="4551571" y="1809750"/>
            <a:ext cx="6651207" cy="4143375"/>
          </a:xfrm>
          <a:prstGeom xmlns:a="http://schemas.openxmlformats.org/drawingml/2006/main" prst="rect">
            <a:avLst/>
          </a:prstGeom>
        </p:spPr>
      </p:pic>
      <p:sp>
        <p:nvSpPr>
          <p:cNvPr id="20" name="Скриншот программы. Вымышленный пациент и синтетич">
            <a:extLst xmlns:a="http://schemas.openxmlformats.org/drawingml/2006/main">
              <a:ext uri="{FF2B5EF4-FFF2-40B4-BE49-F238E27FC236}">
                <a16:creationId xmlns:a16="http://schemas.microsoft.com/office/drawing/2014/main" id="{38D9A322-6E56-40D7-9DC7-434CF6C08723}"/>
              </a:ext>
            </a:extLst>
          </p:cNvPr>
          <p:cNvSpPr>
            <a:spLocks xmlns:a="http://schemas.openxmlformats.org/drawingml/2006/main" noGrp="1"/>
          </p:cNvSpPr>
          <p:nvPr/>
        </p:nvSpPr>
        <p:spPr>
          <a:xfrm xmlns:a="http://schemas.openxmlformats.org/drawingml/2006/main">
            <a:off x="4095750" y="6105525"/>
            <a:ext cx="756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C7067"/>
                </a:solidFill>
                <a:latin typeface="Arial"/>
                <a:ea typeface="Arial"/>
                <a:cs typeface="Arial"/>
              </a:defRPr>
            </a:pPr>
            <a:r>
              <a:rPr sz="1200" b="0">
                <a:solidFill>
                  <a:srgbClr val="5C7067"/>
                </a:solidFill>
                <a:latin typeface="Arial"/>
                <a:ea typeface="Arial"/>
                <a:cs typeface="Arial"/>
              </a:rPr>
              <a:t>Скриншот программы. Вымышленный пациент и синтетические движения.</a:t>
            </a:r>
          </a:p>
        </p:txBody>
      </p:sp>
    </p:spTree>
    <p:extLst>
      <p:ext uri="{BB962C8B-B14F-4D97-AF65-F5344CB8AC3E}">
        <p14:creationId xmlns:p14="http://schemas.microsoft.com/office/powerpoint/2010/main" val="886248842"/>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3" name="Учебный пример пациента">
            <a:extLst xmlns:a="http://schemas.openxmlformats.org/drawingml/2006/main">
              <a:ext uri="{FF2B5EF4-FFF2-40B4-BE49-F238E27FC236}">
                <a16:creationId xmlns:a16="http://schemas.microsoft.com/office/drawing/2014/main" id="{B187FB99-9A41-4C49-94B4-8888512617FF}"/>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Учебный пример пациента</a:t>
            </a:r>
          </a:p>
        </p:txBody>
      </p:sp>
      <p:sp>
        <p:nvSpPr>
          <p:cNvPr id="2" name="Все сведения придуманы. Демонстрация не содержит д">
            <a:extLst xmlns:a="http://schemas.openxmlformats.org/drawingml/2006/main">
              <a:ext uri="{FF2B5EF4-FFF2-40B4-BE49-F238E27FC236}">
                <a16:creationId xmlns:a16="http://schemas.microsoft.com/office/drawing/2014/main" id="{6AA422CA-1B39-412F-9E38-C4680B3A0200}"/>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Все сведения придуманы. Демонстрация не содержит данных реального человека.</a:t>
            </a:r>
          </a:p>
        </p:txBody>
      </p:sp>
      <p:sp>
        <p:nvSpPr>
          <p:cNvPr id="3" name="">
            <a:extLst xmlns:a="http://schemas.openxmlformats.org/drawingml/2006/main">
              <a:ext uri="{FF2B5EF4-FFF2-40B4-BE49-F238E27FC236}">
                <a16:creationId xmlns:a16="http://schemas.microsoft.com/office/drawing/2014/main" id="{7E9A4602-E92B-47CF-84C5-E9C4DB35997C}"/>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0D8CAE1A-DD43-4723-B40F-78440DD8BCF4}"/>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BA1CFE84-F18D-4C51-AA93-0289F8A8BCF4}"/>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05">
            <a:extLst xmlns:a="http://schemas.openxmlformats.org/drawingml/2006/main">
              <a:ext uri="{FF2B5EF4-FFF2-40B4-BE49-F238E27FC236}">
                <a16:creationId xmlns:a16="http://schemas.microsoft.com/office/drawing/2014/main" id="{D9D6C9C3-F145-433C-AD3E-CF4D71B01190}"/>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05</a:t>
            </a:r>
          </a:p>
        </p:txBody>
      </p:sp>
      <p:sp>
        <p:nvSpPr>
          <p:cNvPr id="7" name="58 лет, после инсульта">
            <a:extLst xmlns:a="http://schemas.openxmlformats.org/drawingml/2006/main">
              <a:ext uri="{FF2B5EF4-FFF2-40B4-BE49-F238E27FC236}">
                <a16:creationId xmlns:a16="http://schemas.microsoft.com/office/drawing/2014/main" id="{6B532588-5C4F-4B5B-A04D-E0F3B7FFA0C6}"/>
              </a:ext>
            </a:extLst>
          </p:cNvPr>
          <p:cNvSpPr>
            <a:spLocks xmlns:a="http://schemas.openxmlformats.org/drawingml/2006/main" noGrp="1"/>
          </p:cNvSpPr>
          <p:nvPr/>
        </p:nvSpPr>
        <p:spPr>
          <a:xfrm xmlns:a="http://schemas.openxmlformats.org/drawingml/2006/main">
            <a:off x="533400" y="1857375"/>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58 лет, после инсульта</a:t>
            </a:r>
          </a:p>
        </p:txBody>
      </p:sp>
      <p:sp>
        <p:nvSpPr>
          <p:cNvPr id="8" name="В сценарии ограничена функция&#10;правой ведущей руки.">
            <a:extLst xmlns:a="http://schemas.openxmlformats.org/drawingml/2006/main">
              <a:ext uri="{FF2B5EF4-FFF2-40B4-BE49-F238E27FC236}">
                <a16:creationId xmlns:a16="http://schemas.microsoft.com/office/drawing/2014/main" id="{76AADC12-B2D8-45B9-9D2A-993CA8BA6DF3}"/>
              </a:ext>
            </a:extLst>
          </p:cNvPr>
          <p:cNvSpPr>
            <a:spLocks xmlns:a="http://schemas.openxmlformats.org/drawingml/2006/main" noGrp="1"/>
          </p:cNvSpPr>
          <p:nvPr/>
        </p:nvSpPr>
        <p:spPr>
          <a:xfrm xmlns:a="http://schemas.openxmlformats.org/drawingml/2006/main">
            <a:off x="533400" y="2638425"/>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В сценарии ограничена функция</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правой ведущей руки.</a:t>
            </a:r>
          </a:p>
        </p:txBody>
      </p:sp>
      <p:sp>
        <p:nvSpPr>
          <p:cNvPr id="9" name="Цели в повседневной жизни">
            <a:extLst xmlns:a="http://schemas.openxmlformats.org/drawingml/2006/main">
              <a:ext uri="{FF2B5EF4-FFF2-40B4-BE49-F238E27FC236}">
                <a16:creationId xmlns:a16="http://schemas.microsoft.com/office/drawing/2014/main" id="{12125EB4-212B-4390-B126-ED16C27A64F4}"/>
              </a:ext>
            </a:extLst>
          </p:cNvPr>
          <p:cNvSpPr>
            <a:spLocks xmlns:a="http://schemas.openxmlformats.org/drawingml/2006/main" noGrp="1"/>
          </p:cNvSpPr>
          <p:nvPr/>
        </p:nvSpPr>
        <p:spPr>
          <a:xfrm xmlns:a="http://schemas.openxmlformats.org/drawingml/2006/main">
            <a:off x="533400" y="3952875"/>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Цели в повседневной жизни</a:t>
            </a:r>
          </a:p>
        </p:txBody>
      </p:sp>
      <p:sp>
        <p:nvSpPr>
          <p:cNvPr id="10" name="Застёгивать рубашку,&#10;подносить чашку,&#10;пользоваться">
            <a:extLst xmlns:a="http://schemas.openxmlformats.org/drawingml/2006/main">
              <a:ext uri="{FF2B5EF4-FFF2-40B4-BE49-F238E27FC236}">
                <a16:creationId xmlns:a16="http://schemas.microsoft.com/office/drawing/2014/main" id="{88157414-8F87-4251-B092-7C3A352BAE88}"/>
              </a:ext>
            </a:extLst>
          </p:cNvPr>
          <p:cNvSpPr>
            <a:spLocks xmlns:a="http://schemas.openxmlformats.org/drawingml/2006/main" noGrp="1"/>
          </p:cNvSpPr>
          <p:nvPr/>
        </p:nvSpPr>
        <p:spPr>
          <a:xfrm xmlns:a="http://schemas.openxmlformats.org/drawingml/2006/main">
            <a:off x="533400" y="4733925"/>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Застёгивать рубашку,</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подносить чашку,</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пользоваться рукой в быту.</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f93e5631cef4e53"/>
          <a:stretch xmlns:a="http://schemas.openxmlformats.org/drawingml/2006/main"/>
        </p:blipFill>
        <p:spPr>
          <a:xfrm xmlns:a="http://schemas.openxmlformats.org/drawingml/2006/main">
            <a:off x="4095750" y="2260827"/>
            <a:ext cx="7562850" cy="3241221"/>
          </a:xfrm>
          <a:prstGeom xmlns:a="http://schemas.openxmlformats.org/drawingml/2006/main" prst="rect">
            <a:avLst/>
          </a:prstGeom>
        </p:spPr>
      </p:pic>
      <p:sp>
        <p:nvSpPr>
          <p:cNvPr id="12" name="Вымышленная история болезни. Медицинских документо">
            <a:extLst xmlns:a="http://schemas.openxmlformats.org/drawingml/2006/main">
              <a:ext uri="{FF2B5EF4-FFF2-40B4-BE49-F238E27FC236}">
                <a16:creationId xmlns:a16="http://schemas.microsoft.com/office/drawing/2014/main" id="{78194FEC-2908-4039-82BE-7BBBDBCA48D4}"/>
              </a:ext>
            </a:extLst>
          </p:cNvPr>
          <p:cNvSpPr>
            <a:spLocks xmlns:a="http://schemas.openxmlformats.org/drawingml/2006/main" noGrp="1"/>
          </p:cNvSpPr>
          <p:nvPr/>
        </p:nvSpPr>
        <p:spPr>
          <a:xfrm xmlns:a="http://schemas.openxmlformats.org/drawingml/2006/main">
            <a:off x="4095750" y="6105525"/>
            <a:ext cx="756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C7067"/>
                </a:solidFill>
                <a:latin typeface="Arial"/>
                <a:ea typeface="Arial"/>
                <a:cs typeface="Arial"/>
              </a:defRPr>
            </a:pPr>
            <a:r>
              <a:rPr sz="1200" b="0">
                <a:solidFill>
                  <a:srgbClr val="5C7067"/>
                </a:solidFill>
                <a:latin typeface="Arial"/>
                <a:ea typeface="Arial"/>
                <a:cs typeface="Arial"/>
              </a:rPr>
              <a:t>Вымышленная история болезни. Медицинских документов нет.</a:t>
            </a:r>
          </a:p>
        </p:txBody>
      </p:sp>
    </p:spTree>
    <p:extLst>
      <p:ext uri="{BB962C8B-B14F-4D97-AF65-F5344CB8AC3E}">
        <p14:creationId xmlns:p14="http://schemas.microsoft.com/office/powerpoint/2010/main" val="1790356568"/>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3" name="Видео и движение во времени">
            <a:extLst xmlns:a="http://schemas.openxmlformats.org/drawingml/2006/main">
              <a:ext uri="{FF2B5EF4-FFF2-40B4-BE49-F238E27FC236}">
                <a16:creationId xmlns:a16="http://schemas.microsoft.com/office/drawing/2014/main" id="{831A21ED-8B49-431F-AC18-EB4205892B9C}"/>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Видео и движение во времени</a:t>
            </a:r>
          </a:p>
        </p:txBody>
      </p:sp>
      <p:sp>
        <p:nvSpPr>
          <p:cNvPr id="2" name="Показатели можно связать с конкретным моментом зап">
            <a:extLst xmlns:a="http://schemas.openxmlformats.org/drawingml/2006/main">
              <a:ext uri="{FF2B5EF4-FFF2-40B4-BE49-F238E27FC236}">
                <a16:creationId xmlns:a16="http://schemas.microsoft.com/office/drawing/2014/main" id="{B1AB0EEF-7EFF-4CFA-9F40-BE14DC9B4845}"/>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Показатели можно связать с конкретным моментом записи.</a:t>
            </a:r>
          </a:p>
        </p:txBody>
      </p:sp>
      <p:sp>
        <p:nvSpPr>
          <p:cNvPr id="3" name="">
            <a:extLst xmlns:a="http://schemas.openxmlformats.org/drawingml/2006/main">
              <a:ext uri="{FF2B5EF4-FFF2-40B4-BE49-F238E27FC236}">
                <a16:creationId xmlns:a16="http://schemas.microsoft.com/office/drawing/2014/main" id="{33C15C0E-1BD9-4C62-9C8B-4712AFA310EB}"/>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77404727-AF8E-4A4D-A8F7-F270FC25F6C1}"/>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D121234A-3440-4F8A-B67C-1C21D7033DC9}"/>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06">
            <a:extLst xmlns:a="http://schemas.openxmlformats.org/drawingml/2006/main">
              <a:ext uri="{FF2B5EF4-FFF2-40B4-BE49-F238E27FC236}">
                <a16:creationId xmlns:a16="http://schemas.microsoft.com/office/drawing/2014/main" id="{CDEBAC55-5D5E-4E3F-BE8F-0FBA7C2C753C}"/>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06</a:t>
            </a:r>
          </a:p>
        </p:txBody>
      </p:sp>
      <p:sp>
        <p:nvSpPr>
          <p:cNvPr id="7" name="Скелет и траектории">
            <a:extLst xmlns:a="http://schemas.openxmlformats.org/drawingml/2006/main">
              <a:ext uri="{FF2B5EF4-FFF2-40B4-BE49-F238E27FC236}">
                <a16:creationId xmlns:a16="http://schemas.microsoft.com/office/drawing/2014/main" id="{52064096-253E-4BEB-A9AC-0ABDA7DBE125}"/>
              </a:ext>
            </a:extLst>
          </p:cNvPr>
          <p:cNvSpPr>
            <a:spLocks xmlns:a="http://schemas.openxmlformats.org/drawingml/2006/main" noGrp="1"/>
          </p:cNvSpPr>
          <p:nvPr/>
        </p:nvSpPr>
        <p:spPr>
          <a:xfrm xmlns:a="http://schemas.openxmlformats.org/drawingml/2006/main">
            <a:off x="533400" y="1857375"/>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Скелет и траектории</a:t>
            </a:r>
          </a:p>
        </p:txBody>
      </p:sp>
      <p:sp>
        <p:nvSpPr>
          <p:cNvPr id="8" name="Плечи, локти и запястья.&#10;Цвета обозначают&#10;анатомич">
            <a:extLst xmlns:a="http://schemas.openxmlformats.org/drawingml/2006/main">
              <a:ext uri="{FF2B5EF4-FFF2-40B4-BE49-F238E27FC236}">
                <a16:creationId xmlns:a16="http://schemas.microsoft.com/office/drawing/2014/main" id="{3E5A8D8B-518F-48B8-93A6-DDF5AAA7ED24}"/>
              </a:ext>
            </a:extLst>
          </p:cNvPr>
          <p:cNvSpPr>
            <a:spLocks xmlns:a="http://schemas.openxmlformats.org/drawingml/2006/main" noGrp="1"/>
          </p:cNvSpPr>
          <p:nvPr/>
        </p:nvSpPr>
        <p:spPr>
          <a:xfrm xmlns:a="http://schemas.openxmlformats.org/drawingml/2006/main">
            <a:off x="533400" y="2638425"/>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Плечи, локти и запястья.</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Цвета обозначают</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анатомические стороны.</a:t>
            </a:r>
          </a:p>
        </p:txBody>
      </p:sp>
      <p:sp>
        <p:nvSpPr>
          <p:cNvPr id="9" name="Синхронные графики">
            <a:extLst xmlns:a="http://schemas.openxmlformats.org/drawingml/2006/main">
              <a:ext uri="{FF2B5EF4-FFF2-40B4-BE49-F238E27FC236}">
                <a16:creationId xmlns:a16="http://schemas.microsoft.com/office/drawing/2014/main" id="{05A18B73-8383-4077-9874-A792142EF230}"/>
              </a:ext>
            </a:extLst>
          </p:cNvPr>
          <p:cNvSpPr>
            <a:spLocks xmlns:a="http://schemas.openxmlformats.org/drawingml/2006/main" noGrp="1"/>
          </p:cNvSpPr>
          <p:nvPr/>
        </p:nvSpPr>
        <p:spPr>
          <a:xfrm xmlns:a="http://schemas.openxmlformats.org/drawingml/2006/main">
            <a:off x="533400" y="3962400"/>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Синхронные графики</a:t>
            </a:r>
          </a:p>
        </p:txBody>
      </p:sp>
      <p:sp>
        <p:nvSpPr>
          <p:cNvPr id="10" name="Выбор показателя.&#10;Переход к кадру по графику&#10;или о">
            <a:extLst xmlns:a="http://schemas.openxmlformats.org/drawingml/2006/main">
              <a:ext uri="{FF2B5EF4-FFF2-40B4-BE49-F238E27FC236}">
                <a16:creationId xmlns:a16="http://schemas.microsoft.com/office/drawing/2014/main" id="{2C73BC84-7500-46ED-ADD2-77C0A314CE46}"/>
              </a:ext>
            </a:extLst>
          </p:cNvPr>
          <p:cNvSpPr>
            <a:spLocks xmlns:a="http://schemas.openxmlformats.org/drawingml/2006/main" noGrp="1"/>
          </p:cNvSpPr>
          <p:nvPr/>
        </p:nvSpPr>
        <p:spPr>
          <a:xfrm xmlns:a="http://schemas.openxmlformats.org/drawingml/2006/main">
            <a:off x="533400" y="4743450"/>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Выбор показателя.</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Переход к кадру по графику</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или отметке события.</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8570ab0eb5c466d"/>
          <a:stretch xmlns:a="http://schemas.openxmlformats.org/drawingml/2006/main"/>
        </p:blipFill>
        <p:spPr>
          <a:xfrm xmlns:a="http://schemas.openxmlformats.org/drawingml/2006/main">
            <a:off x="4430640" y="1809750"/>
            <a:ext cx="6893069" cy="4143375"/>
          </a:xfrm>
          <a:prstGeom xmlns:a="http://schemas.openxmlformats.org/drawingml/2006/main" prst="rect">
            <a:avLst/>
          </a:prstGeom>
        </p:spPr>
      </p:pic>
      <p:sp>
        <p:nvSpPr>
          <p:cNvPr id="12" name="Схематическая анимация и синтетические графики дем">
            <a:extLst xmlns:a="http://schemas.openxmlformats.org/drawingml/2006/main">
              <a:ext uri="{FF2B5EF4-FFF2-40B4-BE49-F238E27FC236}">
                <a16:creationId xmlns:a16="http://schemas.microsoft.com/office/drawing/2014/main" id="{AE1BFC7F-AB3F-40FC-A516-2E3441BE4839}"/>
              </a:ext>
            </a:extLst>
          </p:cNvPr>
          <p:cNvSpPr>
            <a:spLocks xmlns:a="http://schemas.openxmlformats.org/drawingml/2006/main" noGrp="1"/>
          </p:cNvSpPr>
          <p:nvPr/>
        </p:nvSpPr>
        <p:spPr>
          <a:xfrm xmlns:a="http://schemas.openxmlformats.org/drawingml/2006/main">
            <a:off x="4095750" y="6105525"/>
            <a:ext cx="756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C7067"/>
                </a:solidFill>
                <a:latin typeface="Arial"/>
                <a:ea typeface="Arial"/>
                <a:cs typeface="Arial"/>
              </a:defRPr>
            </a:pPr>
            <a:r>
              <a:rPr sz="1200" b="0">
                <a:solidFill>
                  <a:srgbClr val="5C7067"/>
                </a:solidFill>
                <a:latin typeface="Arial"/>
                <a:ea typeface="Arial"/>
                <a:cs typeface="Arial"/>
              </a:rPr>
              <a:t>Схематическая анимация и синтетические графики демо.</a:t>
            </a:r>
          </a:p>
        </p:txBody>
      </p:sp>
    </p:spTree>
    <p:extLst>
      <p:ext uri="{BB962C8B-B14F-4D97-AF65-F5344CB8AC3E}">
        <p14:creationId xmlns:p14="http://schemas.microsoft.com/office/powerpoint/2010/main" val="873668052"/>
      </p:ext>
    </p:extLst>
  </p:cSld>
</p:sld>
</file>

<file path=ppt/slides/slide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2" name="ROM и сравнение сторон">
            <a:extLst xmlns:a="http://schemas.openxmlformats.org/drawingml/2006/main">
              <a:ext uri="{FF2B5EF4-FFF2-40B4-BE49-F238E27FC236}">
                <a16:creationId xmlns:a16="http://schemas.microsoft.com/office/drawing/2014/main" id="{0289EB53-5702-4F02-891F-C05459AE6189}"/>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ROM и сравнение сторон</a:t>
            </a:r>
          </a:p>
        </p:txBody>
      </p:sp>
      <p:sp>
        <p:nvSpPr>
          <p:cNvPr id="2" name="ROM означает диапазон движения в пределах анализир">
            <a:extLst xmlns:a="http://schemas.openxmlformats.org/drawingml/2006/main">
              <a:ext uri="{FF2B5EF4-FFF2-40B4-BE49-F238E27FC236}">
                <a16:creationId xmlns:a16="http://schemas.microsoft.com/office/drawing/2014/main" id="{B6261A5F-261D-4AC2-8324-527D05D941DF}"/>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ROM означает диапазон движения в пределах анализируемой записи.</a:t>
            </a:r>
          </a:p>
        </p:txBody>
      </p:sp>
      <p:sp>
        <p:nvSpPr>
          <p:cNvPr id="3" name="">
            <a:extLst xmlns:a="http://schemas.openxmlformats.org/drawingml/2006/main">
              <a:ext uri="{FF2B5EF4-FFF2-40B4-BE49-F238E27FC236}">
                <a16:creationId xmlns:a16="http://schemas.microsoft.com/office/drawing/2014/main" id="{1346FC8E-EABA-421C-996B-747D68784C15}"/>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DA4B8D19-B0B6-4A9C-BF6F-3BE0D20122FB}"/>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29FF778C-4A49-43CA-B319-8B04A8484942}"/>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07">
            <a:extLst xmlns:a="http://schemas.openxmlformats.org/drawingml/2006/main">
              <a:ext uri="{FF2B5EF4-FFF2-40B4-BE49-F238E27FC236}">
                <a16:creationId xmlns:a16="http://schemas.microsoft.com/office/drawing/2014/main" id="{3A366A67-95F7-4489-8105-E87D9F0BA330}"/>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07</a:t>
            </a:r>
          </a:p>
        </p:txBody>
      </p:sp>
      <p:sp>
        <p:nvSpPr>
          <p:cNvPr id="7" name="ROM = максимум − минимум">
            <a:extLst xmlns:a="http://schemas.openxmlformats.org/drawingml/2006/main">
              <a:ext uri="{FF2B5EF4-FFF2-40B4-BE49-F238E27FC236}">
                <a16:creationId xmlns:a16="http://schemas.microsoft.com/office/drawing/2014/main" id="{3BC5AFAA-508D-4D77-8BC5-9EEF5D7124A3}"/>
              </a:ext>
            </a:extLst>
          </p:cNvPr>
          <p:cNvSpPr>
            <a:spLocks xmlns:a="http://schemas.openxmlformats.org/drawingml/2006/main" noGrp="1"/>
          </p:cNvSpPr>
          <p:nvPr/>
        </p:nvSpPr>
        <p:spPr>
          <a:xfrm xmlns:a="http://schemas.openxmlformats.org/drawingml/2006/main">
            <a:off x="533400" y="192405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C34"/>
                </a:solidFill>
                <a:latin typeface="Arial"/>
                <a:ea typeface="Arial"/>
                <a:cs typeface="Arial"/>
              </a:defRPr>
            </a:pPr>
            <a:r>
              <a:rPr sz="2850" b="1">
                <a:solidFill>
                  <a:srgbClr val="173C34"/>
                </a:solidFill>
                <a:latin typeface="Arial"/>
                <a:ea typeface="Arial"/>
                <a:cs typeface="Arial"/>
              </a:rPr>
              <a:t>ROM = максимум − минимум</a:t>
            </a:r>
          </a:p>
        </p:txBody>
      </p:sp>
      <p:sp>
        <p:nvSpPr>
          <p:cNvPr id="8" name="Пример из демо: правый локоть меняется от 135° до ">
            <a:extLst xmlns:a="http://schemas.openxmlformats.org/drawingml/2006/main">
              <a:ext uri="{FF2B5EF4-FFF2-40B4-BE49-F238E27FC236}">
                <a16:creationId xmlns:a16="http://schemas.microsoft.com/office/drawing/2014/main" id="{298454C3-806A-4F74-AC88-4A5FADF2543B}"/>
              </a:ext>
            </a:extLst>
          </p:cNvPr>
          <p:cNvSpPr>
            <a:spLocks xmlns:a="http://schemas.openxmlformats.org/drawingml/2006/main" noGrp="1"/>
          </p:cNvSpPr>
          <p:nvPr/>
        </p:nvSpPr>
        <p:spPr>
          <a:xfrm xmlns:a="http://schemas.openxmlformats.org/drawingml/2006/main">
            <a:off x="533400" y="263842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C34"/>
                </a:solidFill>
                <a:latin typeface="Arial"/>
                <a:ea typeface="Arial"/>
                <a:cs typeface="Arial"/>
              </a:defRPr>
            </a:pPr>
            <a:r>
              <a:rPr sz="1950" b="0">
                <a:solidFill>
                  <a:srgbClr val="173C34"/>
                </a:solidFill>
                <a:latin typeface="Arial"/>
                <a:ea typeface="Arial"/>
                <a:cs typeface="Arial"/>
              </a:rPr>
              <a:t>Пример из демо: правый локоть меняется от 135° до 155°. ROM составляет 20°.</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f62e97c8e374fd7"/>
          <a:stretch xmlns:a="http://schemas.openxmlformats.org/drawingml/2006/main"/>
        </p:blipFill>
        <p:spPr>
          <a:xfrm xmlns:a="http://schemas.openxmlformats.org/drawingml/2006/main">
            <a:off x="1549526" y="3467100"/>
            <a:ext cx="5663949" cy="2581275"/>
          </a:xfrm>
          <a:prstGeom xmlns:a="http://schemas.openxmlformats.org/drawingml/2006/main" prst="rect">
            <a:avLst/>
          </a:prstGeom>
        </p:spPr>
      </p:pic>
      <p:sp>
        <p:nvSpPr>
          <p:cNvPr id="10" name="Углы являются&#10;2D-проекциями.">
            <a:extLst xmlns:a="http://schemas.openxmlformats.org/drawingml/2006/main">
              <a:ext uri="{FF2B5EF4-FFF2-40B4-BE49-F238E27FC236}">
                <a16:creationId xmlns:a16="http://schemas.microsoft.com/office/drawing/2014/main" id="{F9E9E2E1-C5BD-4569-8AB8-04FE071F887D}"/>
              </a:ext>
            </a:extLst>
          </p:cNvPr>
          <p:cNvSpPr>
            <a:spLocks xmlns:a="http://schemas.openxmlformats.org/drawingml/2006/main" noGrp="1"/>
          </p:cNvSpPr>
          <p:nvPr/>
        </p:nvSpPr>
        <p:spPr>
          <a:xfrm xmlns:a="http://schemas.openxmlformats.org/drawingml/2006/main">
            <a:off x="8782050" y="3676650"/>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Углы являются</a:t>
            </a:r>
          </a:p>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2D-проекциями.</a:t>
            </a:r>
          </a:p>
        </p:txBody>
      </p:sp>
      <p:sp>
        <p:nvSpPr>
          <p:cNvPr id="11" name="Индекс различия описывает&#10;стороны в этой задаче.&#10;О">
            <a:extLst xmlns:a="http://schemas.openxmlformats.org/drawingml/2006/main">
              <a:ext uri="{FF2B5EF4-FFF2-40B4-BE49-F238E27FC236}">
                <a16:creationId xmlns:a16="http://schemas.microsoft.com/office/drawing/2014/main" id="{036373AC-9816-41EA-A498-8BE1AC923F8D}"/>
              </a:ext>
            </a:extLst>
          </p:cNvPr>
          <p:cNvSpPr>
            <a:spLocks xmlns:a="http://schemas.openxmlformats.org/drawingml/2006/main" noGrp="1"/>
          </p:cNvSpPr>
          <p:nvPr/>
        </p:nvSpPr>
        <p:spPr>
          <a:xfrm xmlns:a="http://schemas.openxmlformats.org/drawingml/2006/main">
            <a:off x="8782050" y="4733925"/>
            <a:ext cx="28765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3C34"/>
                </a:solidFill>
                <a:latin typeface="Arial"/>
                <a:ea typeface="Arial"/>
                <a:cs typeface="Arial"/>
              </a:defRPr>
            </a:pPr>
            <a:r>
              <a:rPr sz="1800" b="0">
                <a:solidFill>
                  <a:srgbClr val="173C34"/>
                </a:solidFill>
                <a:latin typeface="Arial"/>
                <a:ea typeface="Arial"/>
                <a:cs typeface="Arial"/>
              </a:rPr>
              <a:t>Индекс различия описывает</a:t>
            </a:r>
          </a:p>
          <a:p xmlns:a="http://schemas.openxmlformats.org/drawingml/2006/main">
            <a:pPr>
              <a:defRPr sz="1800" b="0">
                <a:solidFill>
                  <a:srgbClr val="173C34"/>
                </a:solidFill>
                <a:latin typeface="Arial"/>
                <a:ea typeface="Arial"/>
                <a:cs typeface="Arial"/>
              </a:defRPr>
            </a:pPr>
            <a:r>
              <a:rPr sz="1800" b="0">
                <a:solidFill>
                  <a:srgbClr val="173C34"/>
                </a:solidFill>
                <a:latin typeface="Arial"/>
                <a:ea typeface="Arial"/>
                <a:cs typeface="Arial"/>
              </a:rPr>
              <a:t>стороны в этой задаче.</a:t>
            </a:r>
          </a:p>
          <a:p xmlns:a="http://schemas.openxmlformats.org/drawingml/2006/main">
            <a:pPr>
              <a:defRPr sz="1800" b="0">
                <a:solidFill>
                  <a:srgbClr val="173C34"/>
                </a:solidFill>
                <a:latin typeface="Arial"/>
                <a:ea typeface="Arial"/>
                <a:cs typeface="Arial"/>
              </a:defRPr>
            </a:pPr>
            <a:r>
              <a:rPr sz="1800" b="0">
                <a:solidFill>
                  <a:srgbClr val="173C34"/>
                </a:solidFill>
                <a:latin typeface="Arial"/>
                <a:ea typeface="Arial"/>
                <a:cs typeface="Arial"/>
              </a:rPr>
              <a:t>Он не оценивает тяжесть</a:t>
            </a:r>
          </a:p>
          <a:p xmlns:a="http://schemas.openxmlformats.org/drawingml/2006/main">
            <a:pPr>
              <a:defRPr sz="1800" b="0">
                <a:solidFill>
                  <a:srgbClr val="173C34"/>
                </a:solidFill>
                <a:latin typeface="Arial"/>
                <a:ea typeface="Arial"/>
                <a:cs typeface="Arial"/>
              </a:defRPr>
            </a:pPr>
            <a:r>
              <a:rPr sz="1800" b="0">
                <a:solidFill>
                  <a:srgbClr val="173C34"/>
                </a:solidFill>
                <a:latin typeface="Arial"/>
                <a:ea typeface="Arial"/>
                <a:cs typeface="Arial"/>
              </a:rPr>
              <a:t>заболевания.</a:t>
            </a:r>
          </a:p>
        </p:txBody>
      </p:sp>
    </p:spTree>
    <p:extLst>
      <p:ext uri="{BB962C8B-B14F-4D97-AF65-F5344CB8AC3E}">
        <p14:creationId xmlns:p14="http://schemas.microsoft.com/office/powerpoint/2010/main" val="1699031158"/>
      </p:ext>
    </p:extLst>
  </p:cSld>
</p:sld>
</file>

<file path=ppt/slides/slide8.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3" name="Объективный отчёт">
            <a:extLst xmlns:a="http://schemas.openxmlformats.org/drawingml/2006/main">
              <a:ext uri="{FF2B5EF4-FFF2-40B4-BE49-F238E27FC236}">
                <a16:creationId xmlns:a16="http://schemas.microsoft.com/office/drawing/2014/main" id="{1DFC7592-731E-482F-A63B-75372AA134D8}"/>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Объективный отчёт</a:t>
            </a:r>
          </a:p>
        </p:txBody>
      </p:sp>
      <p:sp>
        <p:nvSpPr>
          <p:cNvPr id="2" name="Численные наблюдения отделены от алгоритмических п">
            <a:extLst xmlns:a="http://schemas.openxmlformats.org/drawingml/2006/main">
              <a:ext uri="{FF2B5EF4-FFF2-40B4-BE49-F238E27FC236}">
                <a16:creationId xmlns:a16="http://schemas.microsoft.com/office/drawing/2014/main" id="{42A2BDEE-265F-46F1-B813-B5FFB5469C3B}"/>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Численные наблюдения отделены от алгоритмических признаков и обсуждения методов.</a:t>
            </a:r>
          </a:p>
        </p:txBody>
      </p:sp>
      <p:sp>
        <p:nvSpPr>
          <p:cNvPr id="3" name="">
            <a:extLst xmlns:a="http://schemas.openxmlformats.org/drawingml/2006/main">
              <a:ext uri="{FF2B5EF4-FFF2-40B4-BE49-F238E27FC236}">
                <a16:creationId xmlns:a16="http://schemas.microsoft.com/office/drawing/2014/main" id="{6EB9F1C0-3E1B-4C9B-BB3B-FD85C233812E}"/>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093FBAC0-8644-4730-852A-7E2403E6457B}"/>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6A850B2E-3938-4ACA-B3FD-412DC90B62BB}"/>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08">
            <a:extLst xmlns:a="http://schemas.openxmlformats.org/drawingml/2006/main">
              <a:ext uri="{FF2B5EF4-FFF2-40B4-BE49-F238E27FC236}">
                <a16:creationId xmlns:a16="http://schemas.microsoft.com/office/drawing/2014/main" id="{DF896748-45B5-4215-B597-D6F4E95D3491}"/>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08</a:t>
            </a:r>
          </a:p>
        </p:txBody>
      </p:sp>
      <p:sp>
        <p:nvSpPr>
          <p:cNvPr id="7" name="Измеренные показатели">
            <a:extLst xmlns:a="http://schemas.openxmlformats.org/drawingml/2006/main">
              <a:ext uri="{FF2B5EF4-FFF2-40B4-BE49-F238E27FC236}">
                <a16:creationId xmlns:a16="http://schemas.microsoft.com/office/drawing/2014/main" id="{14CC5ADF-158D-461E-96D7-A36A0131E776}"/>
              </a:ext>
            </a:extLst>
          </p:cNvPr>
          <p:cNvSpPr>
            <a:spLocks xmlns:a="http://schemas.openxmlformats.org/drawingml/2006/main" noGrp="1"/>
          </p:cNvSpPr>
          <p:nvPr/>
        </p:nvSpPr>
        <p:spPr>
          <a:xfrm xmlns:a="http://schemas.openxmlformats.org/drawingml/2006/main">
            <a:off x="533400" y="1857375"/>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Измеренные показатели</a:t>
            </a:r>
          </a:p>
        </p:txBody>
      </p:sp>
      <p:sp>
        <p:nvSpPr>
          <p:cNvPr id="8" name="Углы и диапазон движения.&#10;Скорость и траектории ки">
            <a:extLst xmlns:a="http://schemas.openxmlformats.org/drawingml/2006/main">
              <a:ext uri="{FF2B5EF4-FFF2-40B4-BE49-F238E27FC236}">
                <a16:creationId xmlns:a16="http://schemas.microsoft.com/office/drawing/2014/main" id="{C913E7E2-D72B-47E6-8924-F995BAEAB664}"/>
              </a:ext>
            </a:extLst>
          </p:cNvPr>
          <p:cNvSpPr>
            <a:spLocks xmlns:a="http://schemas.openxmlformats.org/drawingml/2006/main" noGrp="1"/>
          </p:cNvSpPr>
          <p:nvPr/>
        </p:nvSpPr>
        <p:spPr>
          <a:xfrm xmlns:a="http://schemas.openxmlformats.org/drawingml/2006/main">
            <a:off x="533400" y="2638425"/>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Углы и диапазон движения.</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Скорость и траектории кистей.</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Наклон туловища.</a:t>
            </a:r>
          </a:p>
        </p:txBody>
      </p:sp>
      <p:sp>
        <p:nvSpPr>
          <p:cNvPr id="9" name="Проверяемые наблюдения">
            <a:extLst xmlns:a="http://schemas.openxmlformats.org/drawingml/2006/main">
              <a:ext uri="{FF2B5EF4-FFF2-40B4-BE49-F238E27FC236}">
                <a16:creationId xmlns:a16="http://schemas.microsoft.com/office/drawing/2014/main" id="{5FBDA51B-4B71-49F0-AA6E-39B273C137D0}"/>
              </a:ext>
            </a:extLst>
          </p:cNvPr>
          <p:cNvSpPr>
            <a:spLocks xmlns:a="http://schemas.openxmlformats.org/drawingml/2006/main" noGrp="1"/>
          </p:cNvSpPr>
          <p:nvPr/>
        </p:nvSpPr>
        <p:spPr>
          <a:xfrm xmlns:a="http://schemas.openxmlformats.org/drawingml/2006/main">
            <a:off x="533400" y="3962400"/>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Проверяемые наблюдения</a:t>
            </a:r>
          </a:p>
        </p:txBody>
      </p:sp>
      <p:sp>
        <p:nvSpPr>
          <p:cNvPr id="10" name="Результат можно сопоставить&#10;с кадром и графиком,&#10;з">
            <a:extLst xmlns:a="http://schemas.openxmlformats.org/drawingml/2006/main">
              <a:ext uri="{FF2B5EF4-FFF2-40B4-BE49-F238E27FC236}">
                <a16:creationId xmlns:a16="http://schemas.microsoft.com/office/drawing/2014/main" id="{7E2C8E05-3F50-4225-B64B-3CFA3F8D4638}"/>
              </a:ext>
            </a:extLst>
          </p:cNvPr>
          <p:cNvSpPr>
            <a:spLocks xmlns:a="http://schemas.openxmlformats.org/drawingml/2006/main" noGrp="1"/>
          </p:cNvSpPr>
          <p:nvPr/>
        </p:nvSpPr>
        <p:spPr>
          <a:xfrm xmlns:a="http://schemas.openxmlformats.org/drawingml/2006/main">
            <a:off x="533400" y="4743450"/>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Результат можно сопоставить</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с кадром и графиком,</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затем экспортировать.</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f4eb40c02cc4a73"/>
          <a:stretch xmlns:a="http://schemas.openxmlformats.org/drawingml/2006/main"/>
        </p:blipFill>
        <p:spPr>
          <a:xfrm xmlns:a="http://schemas.openxmlformats.org/drawingml/2006/main">
            <a:off x="4095750" y="1835749"/>
            <a:ext cx="7562850" cy="4091378"/>
          </a:xfrm>
          <a:prstGeom xmlns:a="http://schemas.openxmlformats.org/drawingml/2006/main" prst="rect">
            <a:avLst/>
          </a:prstGeom>
        </p:spPr>
      </p:pic>
      <p:sp>
        <p:nvSpPr>
          <p:cNvPr id="12" name="Скриншот программы. Вымышленный пациент и синтетич">
            <a:extLst xmlns:a="http://schemas.openxmlformats.org/drawingml/2006/main">
              <a:ext uri="{FF2B5EF4-FFF2-40B4-BE49-F238E27FC236}">
                <a16:creationId xmlns:a16="http://schemas.microsoft.com/office/drawing/2014/main" id="{E9A3C18B-47AD-466D-81B6-03A156E36841}"/>
              </a:ext>
            </a:extLst>
          </p:cNvPr>
          <p:cNvSpPr>
            <a:spLocks xmlns:a="http://schemas.openxmlformats.org/drawingml/2006/main" noGrp="1"/>
          </p:cNvSpPr>
          <p:nvPr/>
        </p:nvSpPr>
        <p:spPr>
          <a:xfrm xmlns:a="http://schemas.openxmlformats.org/drawingml/2006/main">
            <a:off x="4095750" y="6105525"/>
            <a:ext cx="756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C7067"/>
                </a:solidFill>
                <a:latin typeface="Arial"/>
                <a:ea typeface="Arial"/>
                <a:cs typeface="Arial"/>
              </a:defRPr>
            </a:pPr>
            <a:r>
              <a:rPr sz="1200" b="0">
                <a:solidFill>
                  <a:srgbClr val="5C7067"/>
                </a:solidFill>
                <a:latin typeface="Arial"/>
                <a:ea typeface="Arial"/>
                <a:cs typeface="Arial"/>
              </a:rPr>
              <a:t>Скриншот программы. Вымышленный пациент и синтетические движения.</a:t>
            </a:r>
          </a:p>
        </p:txBody>
      </p:sp>
    </p:spTree>
    <p:extLst>
      <p:ext uri="{BB962C8B-B14F-4D97-AF65-F5344CB8AC3E}">
        <p14:creationId xmlns:p14="http://schemas.microsoft.com/office/powerpoint/2010/main" val="904266184"/>
      </p:ext>
    </p:extLst>
  </p:cSld>
</p:sld>
</file>

<file path=ppt/slides/slide9.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3" name="Персонализированный разбор">
            <a:extLst xmlns:a="http://schemas.openxmlformats.org/drawingml/2006/main">
              <a:ext uri="{FF2B5EF4-FFF2-40B4-BE49-F238E27FC236}">
                <a16:creationId xmlns:a16="http://schemas.microsoft.com/office/drawing/2014/main" id="{31DC47F6-7473-47DA-921C-A3A66318015A}"/>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Персонализированный разбор</a:t>
            </a:r>
          </a:p>
        </p:txBody>
      </p:sp>
      <p:sp>
        <p:nvSpPr>
          <p:cNvPr id="2" name="Для взрослых с инсультом, подтверждённым врачом. М">
            <a:extLst xmlns:a="http://schemas.openxmlformats.org/drawingml/2006/main">
              <a:ext uri="{FF2B5EF4-FFF2-40B4-BE49-F238E27FC236}">
                <a16:creationId xmlns:a16="http://schemas.microsoft.com/office/drawing/2014/main" id="{0A67811E-1921-413A-BC71-2604617894E8}"/>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Для взрослых с инсультом, подтверждённым врачом. Методы требуют очной оценки.</a:t>
            </a:r>
          </a:p>
        </p:txBody>
      </p:sp>
      <p:sp>
        <p:nvSpPr>
          <p:cNvPr id="3" name="">
            <a:extLst xmlns:a="http://schemas.openxmlformats.org/drawingml/2006/main">
              <a:ext uri="{FF2B5EF4-FFF2-40B4-BE49-F238E27FC236}">
                <a16:creationId xmlns:a16="http://schemas.microsoft.com/office/drawing/2014/main" id="{3092AF1F-8DD0-4BF0-BD62-FF0BCA8A611E}"/>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05599E1F-575D-46A8-BBD9-7E3C75A14BBB}"/>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95BFD31F-66F3-4938-A0CB-66A4DB185E9D}"/>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09">
            <a:extLst xmlns:a="http://schemas.openxmlformats.org/drawingml/2006/main">
              <a:ext uri="{FF2B5EF4-FFF2-40B4-BE49-F238E27FC236}">
                <a16:creationId xmlns:a16="http://schemas.microsoft.com/office/drawing/2014/main" id="{C21D25B4-AEE2-4F65-95C0-2F14EE383405}"/>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09</a:t>
            </a:r>
          </a:p>
        </p:txBody>
      </p:sp>
      <p:sp>
        <p:nvSpPr>
          <p:cNvPr id="7" name="Приоритеты проверки">
            <a:extLst xmlns:a="http://schemas.openxmlformats.org/drawingml/2006/main">
              <a:ext uri="{FF2B5EF4-FFF2-40B4-BE49-F238E27FC236}">
                <a16:creationId xmlns:a16="http://schemas.microsoft.com/office/drawing/2014/main" id="{0B6B63A6-1785-472D-8686-6C5A5F79DF3B}"/>
              </a:ext>
            </a:extLst>
          </p:cNvPr>
          <p:cNvSpPr>
            <a:spLocks xmlns:a="http://schemas.openxmlformats.org/drawingml/2006/main" noGrp="1"/>
          </p:cNvSpPr>
          <p:nvPr/>
        </p:nvSpPr>
        <p:spPr>
          <a:xfrm xmlns:a="http://schemas.openxmlformats.org/drawingml/2006/main">
            <a:off x="533400" y="1857375"/>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Приоритеты проверки</a:t>
            </a:r>
          </a:p>
        </p:txBody>
      </p:sp>
      <p:sp>
        <p:nvSpPr>
          <p:cNvPr id="8" name="Боль, тонус, ограничения&#10;и недостающие сведения&#10;по">
            <a:extLst xmlns:a="http://schemas.openxmlformats.org/drawingml/2006/main">
              <a:ext uri="{FF2B5EF4-FFF2-40B4-BE49-F238E27FC236}">
                <a16:creationId xmlns:a16="http://schemas.microsoft.com/office/drawing/2014/main" id="{534601DB-A0A3-4137-86F2-EA733E29E398}"/>
              </a:ext>
            </a:extLst>
          </p:cNvPr>
          <p:cNvSpPr>
            <a:spLocks xmlns:a="http://schemas.openxmlformats.org/drawingml/2006/main" noGrp="1"/>
          </p:cNvSpPr>
          <p:nvPr/>
        </p:nvSpPr>
        <p:spPr>
          <a:xfrm xmlns:a="http://schemas.openxmlformats.org/drawingml/2006/main">
            <a:off x="533400" y="2638425"/>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Боль, тонус, ограничения</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и недостающие сведения</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показаны явно.</a:t>
            </a:r>
          </a:p>
        </p:txBody>
      </p:sp>
      <p:sp>
        <p:nvSpPr>
          <p:cNvPr id="9" name="Методы для обсуждения">
            <a:extLst xmlns:a="http://schemas.openxmlformats.org/drawingml/2006/main">
              <a:ext uri="{FF2B5EF4-FFF2-40B4-BE49-F238E27FC236}">
                <a16:creationId xmlns:a16="http://schemas.microsoft.com/office/drawing/2014/main" id="{860C45F8-71AD-4714-A26A-8A2F219D283F}"/>
              </a:ext>
            </a:extLst>
          </p:cNvPr>
          <p:cNvSpPr>
            <a:spLocks xmlns:a="http://schemas.openxmlformats.org/drawingml/2006/main" noGrp="1"/>
          </p:cNvSpPr>
          <p:nvPr/>
        </p:nvSpPr>
        <p:spPr>
          <a:xfrm xmlns:a="http://schemas.openxmlformats.org/drawingml/2006/main">
            <a:off x="533400" y="3962400"/>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Методы для обсуждения</a:t>
            </a:r>
          </a:p>
        </p:txBody>
      </p:sp>
      <p:sp>
        <p:nvSpPr>
          <p:cNvPr id="10" name="Связь с целями и метриками.&#10;Условия очной оценки&#10;и">
            <a:extLst xmlns:a="http://schemas.openxmlformats.org/drawingml/2006/main">
              <a:ext uri="{FF2B5EF4-FFF2-40B4-BE49-F238E27FC236}">
                <a16:creationId xmlns:a16="http://schemas.microsoft.com/office/drawing/2014/main" id="{A7A3BF4F-8AD5-4064-AB97-C939400C7C2C}"/>
              </a:ext>
            </a:extLst>
          </p:cNvPr>
          <p:cNvSpPr>
            <a:spLocks xmlns:a="http://schemas.openxmlformats.org/drawingml/2006/main" noGrp="1"/>
          </p:cNvSpPr>
          <p:nvPr/>
        </p:nvSpPr>
        <p:spPr>
          <a:xfrm xmlns:a="http://schemas.openxmlformats.org/drawingml/2006/main">
            <a:off x="533400" y="4743450"/>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Связь с целями и метриками.</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Условия очной оценки</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и ссылки на источники.</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057cf5f2ed242aa"/>
          <a:stretch xmlns:a="http://schemas.openxmlformats.org/drawingml/2006/main"/>
        </p:blipFill>
        <p:spPr>
          <a:xfrm xmlns:a="http://schemas.openxmlformats.org/drawingml/2006/main">
            <a:off x="4819765" y="1809750"/>
            <a:ext cx="6114820" cy="4143375"/>
          </a:xfrm>
          <a:prstGeom xmlns:a="http://schemas.openxmlformats.org/drawingml/2006/main" prst="rect">
            <a:avLst/>
          </a:prstGeom>
        </p:spPr>
      </p:pic>
      <p:sp>
        <p:nvSpPr>
          <p:cNvPr id="12" name="Даже полная анкета не подтверждает пригодность леч">
            <a:extLst xmlns:a="http://schemas.openxmlformats.org/drawingml/2006/main">
              <a:ext uri="{FF2B5EF4-FFF2-40B4-BE49-F238E27FC236}">
                <a16:creationId xmlns:a16="http://schemas.microsoft.com/office/drawing/2014/main" id="{79E68FDA-5663-4BF1-8FBE-FE050D30DC95}"/>
              </a:ext>
            </a:extLst>
          </p:cNvPr>
          <p:cNvSpPr>
            <a:spLocks xmlns:a="http://schemas.openxmlformats.org/drawingml/2006/main" noGrp="1"/>
          </p:cNvSpPr>
          <p:nvPr/>
        </p:nvSpPr>
        <p:spPr>
          <a:xfrm xmlns:a="http://schemas.openxmlformats.org/drawingml/2006/main">
            <a:off x="4095750" y="6105525"/>
            <a:ext cx="756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C7067"/>
                </a:solidFill>
                <a:latin typeface="Arial"/>
                <a:ea typeface="Arial"/>
                <a:cs typeface="Arial"/>
              </a:defRPr>
            </a:pPr>
            <a:r>
              <a:rPr sz="1200" b="0">
                <a:solidFill>
                  <a:srgbClr val="5C7067"/>
                </a:solidFill>
                <a:latin typeface="Arial"/>
                <a:ea typeface="Arial"/>
                <a:cs typeface="Arial"/>
              </a:rPr>
              <a:t>Даже полная анкета не подтверждает пригодность лечения.</a:t>
            </a:r>
          </a:p>
        </p:txBody>
      </p:sp>
    </p:spTree>
    <p:extLst>
      <p:ext uri="{BB962C8B-B14F-4D97-AF65-F5344CB8AC3E}">
        <p14:creationId xmlns:p14="http://schemas.microsoft.com/office/powerpoint/2010/main" val="1224545072"/>
      </p:ext>
    </p:extLst>
  </p:cSld>
</p:sld>
</file>

<file path=ppt/slides/slide10.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3" name="Источники и медицинский контекст">
            <a:extLst xmlns:a="http://schemas.openxmlformats.org/drawingml/2006/main">
              <a:ext uri="{FF2B5EF4-FFF2-40B4-BE49-F238E27FC236}">
                <a16:creationId xmlns:a16="http://schemas.microsoft.com/office/drawing/2014/main" id="{A0C27560-02F8-4C14-9DCA-9734C8060F82}"/>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Источники и медицинский контекст</a:t>
            </a:r>
          </a:p>
        </p:txBody>
      </p:sp>
      <p:sp>
        <p:nvSpPr>
          <p:cNvPr id="2" name="Измерения и литература представлены отдельными раз">
            <a:extLst xmlns:a="http://schemas.openxmlformats.org/drawingml/2006/main">
              <a:ext uri="{FF2B5EF4-FFF2-40B4-BE49-F238E27FC236}">
                <a16:creationId xmlns:a16="http://schemas.microsoft.com/office/drawing/2014/main" id="{FD3C3F98-32CD-43AB-BA49-124B2CCA2028}"/>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Измерения и литература представлены отдельными разделами.</a:t>
            </a:r>
          </a:p>
        </p:txBody>
      </p:sp>
      <p:sp>
        <p:nvSpPr>
          <p:cNvPr id="3" name="">
            <a:extLst xmlns:a="http://schemas.openxmlformats.org/drawingml/2006/main">
              <a:ext uri="{FF2B5EF4-FFF2-40B4-BE49-F238E27FC236}">
                <a16:creationId xmlns:a16="http://schemas.microsoft.com/office/drawing/2014/main" id="{8D9C5179-691E-4265-B758-A5940A006C8D}"/>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D0D46031-C3BB-4217-B7AD-1FB05D7EF035}"/>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A7326B22-DA55-49F8-9DFB-915DE2A8B368}"/>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10">
            <a:extLst xmlns:a="http://schemas.openxmlformats.org/drawingml/2006/main">
              <a:ext uri="{FF2B5EF4-FFF2-40B4-BE49-F238E27FC236}">
                <a16:creationId xmlns:a16="http://schemas.microsoft.com/office/drawing/2014/main" id="{2F60E6D7-79E6-4BD8-95F2-092C90658E3B}"/>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10</a:t>
            </a:r>
          </a:p>
        </p:txBody>
      </p:sp>
      <p:sp>
        <p:nvSpPr>
          <p:cNvPr id="7" name="Проверенный каталог">
            <a:extLst xmlns:a="http://schemas.openxmlformats.org/drawingml/2006/main">
              <a:ext uri="{FF2B5EF4-FFF2-40B4-BE49-F238E27FC236}">
                <a16:creationId xmlns:a16="http://schemas.microsoft.com/office/drawing/2014/main" id="{CAF7B669-B028-417D-A13F-6077B36AF42E}"/>
              </a:ext>
            </a:extLst>
          </p:cNvPr>
          <p:cNvSpPr>
            <a:spLocks xmlns:a="http://schemas.openxmlformats.org/drawingml/2006/main" noGrp="1"/>
          </p:cNvSpPr>
          <p:nvPr/>
        </p:nvSpPr>
        <p:spPr>
          <a:xfrm xmlns:a="http://schemas.openxmlformats.org/drawingml/2006/main">
            <a:off x="533400" y="1857375"/>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Проверенный каталог</a:t>
            </a:r>
          </a:p>
        </p:txBody>
      </p:sp>
      <p:sp>
        <p:nvSpPr>
          <p:cNvPr id="8" name="Ссылки, год публикации,&#10;тип источника и дата прове">
            <a:extLst xmlns:a="http://schemas.openxmlformats.org/drawingml/2006/main">
              <a:ext uri="{FF2B5EF4-FFF2-40B4-BE49-F238E27FC236}">
                <a16:creationId xmlns:a16="http://schemas.microsoft.com/office/drawing/2014/main" id="{D8397C80-0FE6-4715-B006-B943F746E2F5}"/>
              </a:ext>
            </a:extLst>
          </p:cNvPr>
          <p:cNvSpPr>
            <a:spLocks xmlns:a="http://schemas.openxmlformats.org/drawingml/2006/main" noGrp="1"/>
          </p:cNvSpPr>
          <p:nvPr/>
        </p:nvSpPr>
        <p:spPr>
          <a:xfrm xmlns:a="http://schemas.openxmlformats.org/drawingml/2006/main">
            <a:off x="533400" y="2638425"/>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Ссылки, год публикации,</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тип источника и дата проверки.</a:t>
            </a:r>
          </a:p>
        </p:txBody>
      </p:sp>
      <p:sp>
        <p:nvSpPr>
          <p:cNvPr id="9" name="Дополнительный поиск">
            <a:extLst xmlns:a="http://schemas.openxmlformats.org/drawingml/2006/main">
              <a:ext uri="{FF2B5EF4-FFF2-40B4-BE49-F238E27FC236}">
                <a16:creationId xmlns:a16="http://schemas.microsoft.com/office/drawing/2014/main" id="{7D63B75B-7716-4320-9B85-D7BF02BF5CE5}"/>
              </a:ext>
            </a:extLst>
          </p:cNvPr>
          <p:cNvSpPr>
            <a:spLocks xmlns:a="http://schemas.openxmlformats.org/drawingml/2006/main" noGrp="1"/>
          </p:cNvSpPr>
          <p:nvPr/>
        </p:nvSpPr>
        <p:spPr>
          <a:xfrm xmlns:a="http://schemas.openxmlformats.org/drawingml/2006/main">
            <a:off x="533400" y="3962400"/>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Дополнительный поиск</a:t>
            </a:r>
          </a:p>
        </p:txBody>
      </p:sp>
      <p:sp>
        <p:nvSpPr>
          <p:cNvPr id="10" name="PubMed по общей теме.&#10;Результаты не добавляются&#10;к ">
            <a:extLst xmlns:a="http://schemas.openxmlformats.org/drawingml/2006/main">
              <a:ext uri="{FF2B5EF4-FFF2-40B4-BE49-F238E27FC236}">
                <a16:creationId xmlns:a16="http://schemas.microsoft.com/office/drawing/2014/main" id="{EDD5766F-8372-4A02-8BA9-23DBEE1725E0}"/>
              </a:ext>
            </a:extLst>
          </p:cNvPr>
          <p:cNvSpPr>
            <a:spLocks xmlns:a="http://schemas.openxmlformats.org/drawingml/2006/main" noGrp="1"/>
          </p:cNvSpPr>
          <p:nvPr/>
        </p:nvSpPr>
        <p:spPr>
          <a:xfrm xmlns:a="http://schemas.openxmlformats.org/drawingml/2006/main">
            <a:off x="533400" y="4743450"/>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PubMed по общей теме.</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Результаты не добавляются</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к методам автоматически.</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63335733986449b"/>
          <a:stretch xmlns:a="http://schemas.openxmlformats.org/drawingml/2006/main"/>
        </p:blipFill>
        <p:spPr>
          <a:xfrm xmlns:a="http://schemas.openxmlformats.org/drawingml/2006/main">
            <a:off x="4095750" y="2170498"/>
            <a:ext cx="7562850" cy="3421880"/>
          </a:xfrm>
          <a:prstGeom xmlns:a="http://schemas.openxmlformats.org/drawingml/2006/main" prst="rect">
            <a:avLst/>
          </a:prstGeom>
        </p:spPr>
      </p:pic>
      <p:sp>
        <p:nvSpPr>
          <p:cNvPr id="12" name="Релевантность темы не подтверждает применимость к ">
            <a:extLst xmlns:a="http://schemas.openxmlformats.org/drawingml/2006/main">
              <a:ext uri="{FF2B5EF4-FFF2-40B4-BE49-F238E27FC236}">
                <a16:creationId xmlns:a16="http://schemas.microsoft.com/office/drawing/2014/main" id="{58E188DE-16F6-4D0F-91BB-4D730276487F}"/>
              </a:ext>
            </a:extLst>
          </p:cNvPr>
          <p:cNvSpPr>
            <a:spLocks xmlns:a="http://schemas.openxmlformats.org/drawingml/2006/main" noGrp="1"/>
          </p:cNvSpPr>
          <p:nvPr/>
        </p:nvSpPr>
        <p:spPr>
          <a:xfrm xmlns:a="http://schemas.openxmlformats.org/drawingml/2006/main">
            <a:off x="4095750" y="6105525"/>
            <a:ext cx="756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C7067"/>
                </a:solidFill>
                <a:latin typeface="Arial"/>
                <a:ea typeface="Arial"/>
                <a:cs typeface="Arial"/>
              </a:defRPr>
            </a:pPr>
            <a:r>
              <a:rPr sz="1200" b="0">
                <a:solidFill>
                  <a:srgbClr val="5C7067"/>
                </a:solidFill>
                <a:latin typeface="Arial"/>
                <a:ea typeface="Arial"/>
                <a:cs typeface="Arial"/>
              </a:rPr>
              <a:t>Релевантность темы не подтверждает применимость к пациенту.</a:t>
            </a:r>
          </a:p>
        </p:txBody>
      </p:sp>
    </p:spTree>
    <p:extLst>
      <p:ext uri="{BB962C8B-B14F-4D97-AF65-F5344CB8AC3E}">
        <p14:creationId xmlns:p14="http://schemas.microsoft.com/office/powerpoint/2010/main" val="922548631"/>
      </p:ext>
    </p:extLst>
  </p:cSld>
</p:sld>
</file>

<file path=ppt/slides/slide11.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3" name="Качество данных перед интерпретацией">
            <a:extLst xmlns:a="http://schemas.openxmlformats.org/drawingml/2006/main">
              <a:ext uri="{FF2B5EF4-FFF2-40B4-BE49-F238E27FC236}">
                <a16:creationId xmlns:a16="http://schemas.microsoft.com/office/drawing/2014/main" id="{29E5283A-F3B8-4DFF-B5DF-FFF20E5CEAD3}"/>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Качество данных перед интерпретацией</a:t>
            </a:r>
          </a:p>
        </p:txBody>
      </p:sp>
      <p:sp>
        <p:nvSpPr>
          <p:cNvPr id="2" name="Техническая надёжность расчёта не равна клиническо">
            <a:extLst xmlns:a="http://schemas.openxmlformats.org/drawingml/2006/main">
              <a:ext uri="{FF2B5EF4-FFF2-40B4-BE49-F238E27FC236}">
                <a16:creationId xmlns:a16="http://schemas.microsoft.com/office/drawing/2014/main" id="{63C12C8B-289D-4472-A338-01771BFBCD27}"/>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Техническая надёжность расчёта не равна клинической точности.</a:t>
            </a:r>
          </a:p>
        </p:txBody>
      </p:sp>
      <p:sp>
        <p:nvSpPr>
          <p:cNvPr id="3" name="">
            <a:extLst xmlns:a="http://schemas.openxmlformats.org/drawingml/2006/main">
              <a:ext uri="{FF2B5EF4-FFF2-40B4-BE49-F238E27FC236}">
                <a16:creationId xmlns:a16="http://schemas.microsoft.com/office/drawing/2014/main" id="{B6779E55-96FD-485F-9C4A-6DA07FF30D20}"/>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C2C66E20-25A5-4549-A704-FCD2F3E49360}"/>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EE8C65A3-CA49-45D1-BA96-5490402C7704}"/>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11">
            <a:extLst xmlns:a="http://schemas.openxmlformats.org/drawingml/2006/main">
              <a:ext uri="{FF2B5EF4-FFF2-40B4-BE49-F238E27FC236}">
                <a16:creationId xmlns:a16="http://schemas.microsoft.com/office/drawing/2014/main" id="{97DAD33E-BCCD-417B-8249-F0C0CA457FFF}"/>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11</a:t>
            </a:r>
          </a:p>
        </p:txBody>
      </p:sp>
      <p:sp>
        <p:nvSpPr>
          <p:cNvPr id="7" name="Прозрачные пропуски">
            <a:extLst xmlns:a="http://schemas.openxmlformats.org/drawingml/2006/main">
              <a:ext uri="{FF2B5EF4-FFF2-40B4-BE49-F238E27FC236}">
                <a16:creationId xmlns:a16="http://schemas.microsoft.com/office/drawing/2014/main" id="{8845BB76-A7F6-4C13-B29B-09AC75843D7C}"/>
              </a:ext>
            </a:extLst>
          </p:cNvPr>
          <p:cNvSpPr>
            <a:spLocks xmlns:a="http://schemas.openxmlformats.org/drawingml/2006/main" noGrp="1"/>
          </p:cNvSpPr>
          <p:nvPr/>
        </p:nvSpPr>
        <p:spPr>
          <a:xfrm xmlns:a="http://schemas.openxmlformats.org/drawingml/2006/main">
            <a:off x="533400" y="1857375"/>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Прозрачные пропуски</a:t>
            </a:r>
          </a:p>
        </p:txBody>
      </p:sp>
      <p:sp>
        <p:nvSpPr>
          <p:cNvPr id="8" name="Покрытие кадров.&#10;Уверенность по точкам.&#10;Ненадёжные">
            <a:extLst xmlns:a="http://schemas.openxmlformats.org/drawingml/2006/main">
              <a:ext uri="{FF2B5EF4-FFF2-40B4-BE49-F238E27FC236}">
                <a16:creationId xmlns:a16="http://schemas.microsoft.com/office/drawing/2014/main" id="{7DF950CB-8D3D-49F6-9E97-A4FA3835E929}"/>
              </a:ext>
            </a:extLst>
          </p:cNvPr>
          <p:cNvSpPr>
            <a:spLocks xmlns:a="http://schemas.openxmlformats.org/drawingml/2006/main" noGrp="1"/>
          </p:cNvSpPr>
          <p:nvPr/>
        </p:nvSpPr>
        <p:spPr>
          <a:xfrm xmlns:a="http://schemas.openxmlformats.org/drawingml/2006/main">
            <a:off x="533400" y="2638425"/>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Покрытие кадров.</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Уверенность по точкам.</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Ненадёжные точки</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исключаются.</a:t>
            </a:r>
          </a:p>
        </p:txBody>
      </p:sp>
      <p:sp>
        <p:nvSpPr>
          <p:cNvPr id="9" name="Условия записи">
            <a:extLst xmlns:a="http://schemas.openxmlformats.org/drawingml/2006/main">
              <a:ext uri="{FF2B5EF4-FFF2-40B4-BE49-F238E27FC236}">
                <a16:creationId xmlns:a16="http://schemas.microsoft.com/office/drawing/2014/main" id="{22EC9BB1-8FBD-46C3-99ED-8D95B1CCB7E5}"/>
              </a:ext>
            </a:extLst>
          </p:cNvPr>
          <p:cNvSpPr>
            <a:spLocks xmlns:a="http://schemas.openxmlformats.org/drawingml/2006/main" noGrp="1"/>
          </p:cNvSpPr>
          <p:nvPr/>
        </p:nvSpPr>
        <p:spPr>
          <a:xfrm xmlns:a="http://schemas.openxmlformats.org/drawingml/2006/main">
            <a:off x="533400" y="3962400"/>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Условия записи</a:t>
            </a:r>
          </a:p>
        </p:txBody>
      </p:sp>
      <p:sp>
        <p:nvSpPr>
          <p:cNvPr id="10" name="Один человек, статичная камера.&#10;Плечи, таз и кисти">
            <a:extLst xmlns:a="http://schemas.openxmlformats.org/drawingml/2006/main">
              <a:ext uri="{FF2B5EF4-FFF2-40B4-BE49-F238E27FC236}">
                <a16:creationId xmlns:a16="http://schemas.microsoft.com/office/drawing/2014/main" id="{5D1454FD-7F72-4875-9DF0-E2623C682591}"/>
              </a:ext>
            </a:extLst>
          </p:cNvPr>
          <p:cNvSpPr>
            <a:spLocks xmlns:a="http://schemas.openxmlformats.org/drawingml/2006/main" noGrp="1"/>
          </p:cNvSpPr>
          <p:nvPr/>
        </p:nvSpPr>
        <p:spPr>
          <a:xfrm xmlns:a="http://schemas.openxmlformats.org/drawingml/2006/main">
            <a:off x="533400" y="4743450"/>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Один человек, статичная камера.</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Плечи, таз и кисти в кадре.</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Достаточное освещение.</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6fcfee395634b6b"/>
          <a:stretch xmlns:a="http://schemas.openxmlformats.org/drawingml/2006/main"/>
        </p:blipFill>
        <p:spPr>
          <a:xfrm xmlns:a="http://schemas.openxmlformats.org/drawingml/2006/main">
            <a:off x="4533976" y="1809750"/>
            <a:ext cx="6686399" cy="4143375"/>
          </a:xfrm>
          <a:prstGeom xmlns:a="http://schemas.openxmlformats.org/drawingml/2006/main" prst="rect">
            <a:avLst/>
          </a:prstGeom>
        </p:spPr>
      </p:pic>
      <p:sp>
        <p:nvSpPr>
          <p:cNvPr id="12" name="100% в демо объясняется заданными координатами.">
            <a:extLst xmlns:a="http://schemas.openxmlformats.org/drawingml/2006/main">
              <a:ext uri="{FF2B5EF4-FFF2-40B4-BE49-F238E27FC236}">
                <a16:creationId xmlns:a16="http://schemas.microsoft.com/office/drawing/2014/main" id="{BCB06B1A-F261-4CC7-98B5-5A8F6C013718}"/>
              </a:ext>
            </a:extLst>
          </p:cNvPr>
          <p:cNvSpPr>
            <a:spLocks xmlns:a="http://schemas.openxmlformats.org/drawingml/2006/main" noGrp="1"/>
          </p:cNvSpPr>
          <p:nvPr/>
        </p:nvSpPr>
        <p:spPr>
          <a:xfrm xmlns:a="http://schemas.openxmlformats.org/drawingml/2006/main">
            <a:off x="4095750" y="6105525"/>
            <a:ext cx="756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C7067"/>
                </a:solidFill>
                <a:latin typeface="Arial"/>
                <a:ea typeface="Arial"/>
                <a:cs typeface="Arial"/>
              </a:defRPr>
            </a:pPr>
            <a:r>
              <a:rPr sz="1200" b="0">
                <a:solidFill>
                  <a:srgbClr val="5C7067"/>
                </a:solidFill>
                <a:latin typeface="Arial"/>
                <a:ea typeface="Arial"/>
                <a:cs typeface="Arial"/>
              </a:rPr>
              <a:t>100% в демо объясняется заданными координатами.</a:t>
            </a:r>
          </a:p>
        </p:txBody>
      </p:sp>
    </p:spTree>
    <p:extLst>
      <p:ext uri="{BB962C8B-B14F-4D97-AF65-F5344CB8AC3E}">
        <p14:creationId xmlns:p14="http://schemas.microsoft.com/office/powerpoint/2010/main" val="1728956209"/>
      </p:ext>
    </p:extLst>
  </p:cSld>
</p:sld>
</file>

<file path=ppt/slides/slide1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3" name="Хранение и экспорт">
            <a:extLst xmlns:a="http://schemas.openxmlformats.org/drawingml/2006/main">
              <a:ext uri="{FF2B5EF4-FFF2-40B4-BE49-F238E27FC236}">
                <a16:creationId xmlns:a16="http://schemas.microsoft.com/office/drawing/2014/main" id="{6211C25A-8E45-40C6-BF40-E9786C1230D9}"/>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Хранение и экспорт</a:t>
            </a:r>
          </a:p>
        </p:txBody>
      </p:sp>
      <p:sp>
        <p:nvSpPr>
          <p:cNvPr id="2" name="Видео и история болезни обрабатываются на локально">
            <a:extLst xmlns:a="http://schemas.openxmlformats.org/drawingml/2006/main">
              <a:ext uri="{FF2B5EF4-FFF2-40B4-BE49-F238E27FC236}">
                <a16:creationId xmlns:a16="http://schemas.microsoft.com/office/drawing/2014/main" id="{0FAC4A81-CBE3-4B05-A1D4-EBAADB254025}"/>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Видео и история болезни обрабатываются на локальном сервере.</a:t>
            </a:r>
          </a:p>
        </p:txBody>
      </p:sp>
      <p:sp>
        <p:nvSpPr>
          <p:cNvPr id="3" name="">
            <a:extLst xmlns:a="http://schemas.openxmlformats.org/drawingml/2006/main">
              <a:ext uri="{FF2B5EF4-FFF2-40B4-BE49-F238E27FC236}">
                <a16:creationId xmlns:a16="http://schemas.microsoft.com/office/drawing/2014/main" id="{0484A577-E979-4EC2-8AD5-684F91213969}"/>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5FB6B359-29BE-4E3D-AB3C-AAA575974718}"/>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20EF3C16-22CF-4096-8969-B6F471DE51CD}"/>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12">
            <a:extLst xmlns:a="http://schemas.openxmlformats.org/drawingml/2006/main">
              <a:ext uri="{FF2B5EF4-FFF2-40B4-BE49-F238E27FC236}">
                <a16:creationId xmlns:a16="http://schemas.microsoft.com/office/drawing/2014/main" id="{0DA3AC56-6B3F-4A04-90B1-B55292B39815}"/>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12</a:t>
            </a:r>
          </a:p>
        </p:txBody>
      </p:sp>
      <p:sp>
        <p:nvSpPr>
          <p:cNvPr id="7" name="Локальное хранение">
            <a:extLst xmlns:a="http://schemas.openxmlformats.org/drawingml/2006/main">
              <a:ext uri="{FF2B5EF4-FFF2-40B4-BE49-F238E27FC236}">
                <a16:creationId xmlns:a16="http://schemas.microsoft.com/office/drawing/2014/main" id="{A3376C83-F63E-4FBF-8EF0-AC4D9CD1FD9E}"/>
              </a:ext>
            </a:extLst>
          </p:cNvPr>
          <p:cNvSpPr>
            <a:spLocks xmlns:a="http://schemas.openxmlformats.org/drawingml/2006/main" noGrp="1"/>
          </p:cNvSpPr>
          <p:nvPr/>
        </p:nvSpPr>
        <p:spPr>
          <a:xfrm xmlns:a="http://schemas.openxmlformats.org/drawingml/2006/main">
            <a:off x="533400" y="1857375"/>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Локальное хранение</a:t>
            </a:r>
          </a:p>
        </p:txBody>
      </p:sp>
      <p:sp>
        <p:nvSpPr>
          <p:cNvPr id="8" name="Видео, анкета и результаты&#10;сохраняются вместе.&#10;Вне">
            <a:extLst xmlns:a="http://schemas.openxmlformats.org/drawingml/2006/main">
              <a:ext uri="{FF2B5EF4-FFF2-40B4-BE49-F238E27FC236}">
                <a16:creationId xmlns:a16="http://schemas.microsoft.com/office/drawing/2014/main" id="{C476459E-041A-444F-89E9-4D0F8CC9D0BD}"/>
              </a:ext>
            </a:extLst>
          </p:cNvPr>
          <p:cNvSpPr>
            <a:spLocks xmlns:a="http://schemas.openxmlformats.org/drawingml/2006/main" noGrp="1"/>
          </p:cNvSpPr>
          <p:nvPr/>
        </p:nvSpPr>
        <p:spPr>
          <a:xfrm xmlns:a="http://schemas.openxmlformats.org/drawingml/2006/main">
            <a:off x="533400" y="2638425"/>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Видео, анкета и результаты</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сохраняются вместе.</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Внешние AI API</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не используются.</a:t>
            </a:r>
          </a:p>
        </p:txBody>
      </p:sp>
      <p:sp>
        <p:nvSpPr>
          <p:cNvPr id="9" name="Структурированный экспорт">
            <a:extLst xmlns:a="http://schemas.openxmlformats.org/drawingml/2006/main">
              <a:ext uri="{FF2B5EF4-FFF2-40B4-BE49-F238E27FC236}">
                <a16:creationId xmlns:a16="http://schemas.microsoft.com/office/drawing/2014/main" id="{D2C45A6B-9280-480C-AD21-8D8420C95E5E}"/>
              </a:ext>
            </a:extLst>
          </p:cNvPr>
          <p:cNvSpPr>
            <a:spLocks xmlns:a="http://schemas.openxmlformats.org/drawingml/2006/main" noGrp="1"/>
          </p:cNvSpPr>
          <p:nvPr/>
        </p:nvSpPr>
        <p:spPr>
          <a:xfrm xmlns:a="http://schemas.openxmlformats.org/drawingml/2006/main">
            <a:off x="533400" y="3962400"/>
            <a:ext cx="321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34"/>
                </a:solidFill>
                <a:latin typeface="Arial"/>
                <a:ea typeface="Arial"/>
                <a:cs typeface="Arial"/>
              </a:defRPr>
            </a:pPr>
            <a:r>
              <a:rPr sz="2100" b="1">
                <a:solidFill>
                  <a:srgbClr val="173C34"/>
                </a:solidFill>
                <a:latin typeface="Arial"/>
                <a:ea typeface="Arial"/>
                <a:cs typeface="Arial"/>
              </a:rPr>
              <a:t>Структурированный экспорт</a:t>
            </a:r>
          </a:p>
        </p:txBody>
      </p:sp>
      <p:sp>
        <p:nvSpPr>
          <p:cNvPr id="10" name="Отчёт JSON и Evidence JSON.&#10;Есть полное удаление&#10;и">
            <a:extLst xmlns:a="http://schemas.openxmlformats.org/drawingml/2006/main">
              <a:ext uri="{FF2B5EF4-FFF2-40B4-BE49-F238E27FC236}">
                <a16:creationId xmlns:a16="http://schemas.microsoft.com/office/drawing/2014/main" id="{A824EF45-1BDD-47F1-BB43-7E0295ED18EB}"/>
              </a:ext>
            </a:extLst>
          </p:cNvPr>
          <p:cNvSpPr>
            <a:spLocks xmlns:a="http://schemas.openxmlformats.org/drawingml/2006/main" noGrp="1"/>
          </p:cNvSpPr>
          <p:nvPr/>
        </p:nvSpPr>
        <p:spPr>
          <a:xfrm xmlns:a="http://schemas.openxmlformats.org/drawingml/2006/main">
            <a:off x="533400" y="4743450"/>
            <a:ext cx="32194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Отчёт JSON и Evidence JSON.</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Есть полное удаление</a:t>
            </a:r>
          </a:p>
          <a:p xmlns:a="http://schemas.openxmlformats.org/drawingml/2006/main">
            <a:pPr>
              <a:defRPr sz="1875" b="0">
                <a:solidFill>
                  <a:srgbClr val="173C34"/>
                </a:solidFill>
                <a:latin typeface="Arial"/>
                <a:ea typeface="Arial"/>
                <a:cs typeface="Arial"/>
              </a:defRPr>
            </a:pPr>
            <a:r>
              <a:rPr sz="1875" b="0">
                <a:solidFill>
                  <a:srgbClr val="173C34"/>
                </a:solidFill>
                <a:latin typeface="Arial"/>
                <a:ea typeface="Arial"/>
                <a:cs typeface="Arial"/>
              </a:rPr>
              <a:t>исследования.</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c55a30b3d794a88"/>
          <a:stretch xmlns:a="http://schemas.openxmlformats.org/drawingml/2006/main"/>
        </p:blipFill>
        <p:spPr>
          <a:xfrm xmlns:a="http://schemas.openxmlformats.org/drawingml/2006/main">
            <a:off x="4130942" y="1809750"/>
            <a:ext cx="7492467" cy="4143375"/>
          </a:xfrm>
          <a:prstGeom xmlns:a="http://schemas.openxmlformats.org/drawingml/2006/main" prst="rect">
            <a:avLst/>
          </a:prstGeom>
        </p:spPr>
      </p:pic>
      <p:sp>
        <p:nvSpPr>
          <p:cNvPr id="12" name="Защиту доступа к компьютеру обеспечивает владелец ">
            <a:extLst xmlns:a="http://schemas.openxmlformats.org/drawingml/2006/main">
              <a:ext uri="{FF2B5EF4-FFF2-40B4-BE49-F238E27FC236}">
                <a16:creationId xmlns:a16="http://schemas.microsoft.com/office/drawing/2014/main" id="{21A3C99F-5DDA-4513-BF86-00DF7DFC33E0}"/>
              </a:ext>
            </a:extLst>
          </p:cNvPr>
          <p:cNvSpPr>
            <a:spLocks xmlns:a="http://schemas.openxmlformats.org/drawingml/2006/main" noGrp="1"/>
          </p:cNvSpPr>
          <p:nvPr/>
        </p:nvSpPr>
        <p:spPr>
          <a:xfrm xmlns:a="http://schemas.openxmlformats.org/drawingml/2006/main">
            <a:off x="4095750" y="6105525"/>
            <a:ext cx="756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C7067"/>
                </a:solidFill>
                <a:latin typeface="Arial"/>
                <a:ea typeface="Arial"/>
                <a:cs typeface="Arial"/>
              </a:defRPr>
            </a:pPr>
            <a:r>
              <a:rPr sz="1200" b="0">
                <a:solidFill>
                  <a:srgbClr val="5C7067"/>
                </a:solidFill>
                <a:latin typeface="Arial"/>
                <a:ea typeface="Arial"/>
                <a:cs typeface="Arial"/>
              </a:rPr>
              <a:t>Защиту доступа к компьютеру обеспечивает владелец системы.</a:t>
            </a:r>
          </a:p>
        </p:txBody>
      </p:sp>
    </p:spTree>
    <p:extLst>
      <p:ext uri="{BB962C8B-B14F-4D97-AF65-F5344CB8AC3E}">
        <p14:creationId xmlns:p14="http://schemas.microsoft.com/office/powerpoint/2010/main" val="665229548"/>
      </p:ext>
    </p:extLst>
  </p:cSld>
</p:sld>
</file>

<file path=ppt/slides/slide1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3" name="Границы текущей версии">
            <a:extLst xmlns:a="http://schemas.openxmlformats.org/drawingml/2006/main">
              <a:ext uri="{FF2B5EF4-FFF2-40B4-BE49-F238E27FC236}">
                <a16:creationId xmlns:a16="http://schemas.microsoft.com/office/drawing/2014/main" id="{BF16B2A3-3E52-4A87-808E-0E1312D236CF}"/>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34"/>
                </a:solidFill>
                <a:latin typeface="Arial"/>
                <a:ea typeface="Arial"/>
                <a:cs typeface="Arial"/>
              </a:defRPr>
            </a:pPr>
            <a:r>
              <a:rPr sz="3300" b="1">
                <a:solidFill>
                  <a:srgbClr val="173C34"/>
                </a:solidFill>
                <a:latin typeface="Arial"/>
                <a:ea typeface="Arial"/>
                <a:cs typeface="Arial"/>
              </a:rPr>
              <a:t>Границы текущей версии</a:t>
            </a:r>
          </a:p>
        </p:txBody>
      </p:sp>
      <p:sp>
        <p:nvSpPr>
          <p:cNvPr id="2" name="Исследовательский прототип без клинической валидац">
            <a:extLst xmlns:a="http://schemas.openxmlformats.org/drawingml/2006/main">
              <a:ext uri="{FF2B5EF4-FFF2-40B4-BE49-F238E27FC236}">
                <a16:creationId xmlns:a16="http://schemas.microsoft.com/office/drawing/2014/main" id="{054BD8A2-0AFC-40D3-B4EC-063D71587CCA}"/>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7067"/>
                </a:solidFill>
                <a:latin typeface="Arial"/>
                <a:ea typeface="Arial"/>
                <a:cs typeface="Arial"/>
              </a:defRPr>
            </a:pPr>
            <a:r>
              <a:rPr sz="1725" b="0">
                <a:solidFill>
                  <a:srgbClr val="5C7067"/>
                </a:solidFill>
                <a:latin typeface="Arial"/>
                <a:ea typeface="Arial"/>
                <a:cs typeface="Arial"/>
              </a:rPr>
              <a:t>Исследовательский прототип без клинической валидации.</a:t>
            </a:r>
          </a:p>
        </p:txBody>
      </p:sp>
      <p:sp>
        <p:nvSpPr>
          <p:cNvPr id="3" name="">
            <a:extLst xmlns:a="http://schemas.openxmlformats.org/drawingml/2006/main">
              <a:ext uri="{FF2B5EF4-FFF2-40B4-BE49-F238E27FC236}">
                <a16:creationId xmlns:a16="http://schemas.microsoft.com/office/drawing/2014/main" id="{B1AF86F9-D883-443F-A045-5E0744CC5707}"/>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6FDEB1BD-D2CE-4EFD-9860-2CEFA23B981E}"/>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C7067"/>
                </a:solidFill>
                <a:latin typeface="Arial"/>
                <a:ea typeface="Arial"/>
                <a:cs typeface="Arial"/>
              </a:defRPr>
            </a:pPr>
            <a:r>
              <a:rPr sz="1050" b="1">
                <a:solidFill>
                  <a:srgbClr val="5C7067"/>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241DB8E3-9A67-4DED-8C00-CE9446238E8F}"/>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Исследовательский прототип</a:t>
            </a:r>
          </a:p>
        </p:txBody>
      </p:sp>
      <p:sp>
        <p:nvSpPr>
          <p:cNvPr id="6" name="13">
            <a:extLst xmlns:a="http://schemas.openxmlformats.org/drawingml/2006/main">
              <a:ext uri="{FF2B5EF4-FFF2-40B4-BE49-F238E27FC236}">
                <a16:creationId xmlns:a16="http://schemas.microsoft.com/office/drawing/2014/main" id="{48BC7F7A-1688-4452-A6CF-4B5AA53C36E3}"/>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C7067"/>
                </a:solidFill>
                <a:latin typeface="Arial"/>
                <a:ea typeface="Arial"/>
                <a:cs typeface="Arial"/>
              </a:defRPr>
            </a:pPr>
            <a:r>
              <a:rPr sz="1050" b="0">
                <a:solidFill>
                  <a:srgbClr val="5C7067"/>
                </a:solidFill>
                <a:latin typeface="Arial"/>
                <a:ea typeface="Arial"/>
                <a:cs typeface="Arial"/>
              </a:rPr>
              <a:t>13</a:t>
            </a:r>
          </a:p>
        </p:txBody>
      </p:sp>
      <p:sp>
        <p:nvSpPr>
          <p:cNvPr id="7" name="Что анализируется">
            <a:extLst xmlns:a="http://schemas.openxmlformats.org/drawingml/2006/main">
              <a:ext uri="{FF2B5EF4-FFF2-40B4-BE49-F238E27FC236}">
                <a16:creationId xmlns:a16="http://schemas.microsoft.com/office/drawing/2014/main" id="{FD41290D-9F2D-47F6-9CB6-309DBC718F30}"/>
              </a:ext>
            </a:extLst>
          </p:cNvPr>
          <p:cNvSpPr>
            <a:spLocks xmlns:a="http://schemas.openxmlformats.org/drawingml/2006/main" noGrp="1"/>
          </p:cNvSpPr>
          <p:nvPr/>
        </p:nvSpPr>
        <p:spPr>
          <a:xfrm xmlns:a="http://schemas.openxmlformats.org/drawingml/2006/main">
            <a:off x="533400" y="2009775"/>
            <a:ext cx="4810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3C34"/>
                </a:solidFill>
                <a:latin typeface="Arial"/>
                <a:ea typeface="Arial"/>
                <a:cs typeface="Arial"/>
              </a:defRPr>
            </a:pPr>
            <a:r>
              <a:rPr sz="2475" b="1">
                <a:solidFill>
                  <a:srgbClr val="173C34"/>
                </a:solidFill>
                <a:latin typeface="Arial"/>
                <a:ea typeface="Arial"/>
                <a:cs typeface="Arial"/>
              </a:rPr>
              <a:t>Что анализируется</a:t>
            </a:r>
          </a:p>
        </p:txBody>
      </p:sp>
      <p:sp>
        <p:nvSpPr>
          <p:cNvPr id="8" name="Верхние конечности и туловище.&#10;Углы в плоскости ка">
            <a:extLst xmlns:a="http://schemas.openxmlformats.org/drawingml/2006/main">
              <a:ext uri="{FF2B5EF4-FFF2-40B4-BE49-F238E27FC236}">
                <a16:creationId xmlns:a16="http://schemas.microsoft.com/office/drawing/2014/main" id="{35365E30-662A-4C6A-83E9-50EE0A69F47D}"/>
              </a:ext>
            </a:extLst>
          </p:cNvPr>
          <p:cNvSpPr>
            <a:spLocks xmlns:a="http://schemas.openxmlformats.org/drawingml/2006/main" noGrp="1"/>
          </p:cNvSpPr>
          <p:nvPr/>
        </p:nvSpPr>
        <p:spPr>
          <a:xfrm xmlns:a="http://schemas.openxmlformats.org/drawingml/2006/main">
            <a:off x="533400" y="2838450"/>
            <a:ext cx="4810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C34"/>
                </a:solidFill>
                <a:latin typeface="Arial"/>
                <a:ea typeface="Arial"/>
                <a:cs typeface="Arial"/>
              </a:defRPr>
            </a:pPr>
            <a:r>
              <a:rPr sz="2025" b="0">
                <a:solidFill>
                  <a:srgbClr val="173C34"/>
                </a:solidFill>
                <a:latin typeface="Arial"/>
                <a:ea typeface="Arial"/>
                <a:cs typeface="Arial"/>
              </a:rPr>
              <a:t>Верхние конечности и туловище.</a:t>
            </a:r>
          </a:p>
          <a:p xmlns:a="http://schemas.openxmlformats.org/drawingml/2006/main">
            <a:pPr>
              <a:defRPr sz="2025" b="0">
                <a:solidFill>
                  <a:srgbClr val="173C34"/>
                </a:solidFill>
                <a:latin typeface="Arial"/>
                <a:ea typeface="Arial"/>
                <a:cs typeface="Arial"/>
              </a:defRPr>
            </a:pPr>
            <a:r>
              <a:rPr sz="2025" b="0">
                <a:solidFill>
                  <a:srgbClr val="173C34"/>
                </a:solidFill>
                <a:latin typeface="Arial"/>
                <a:ea typeface="Arial"/>
                <a:cs typeface="Arial"/>
              </a:rPr>
              <a:t>Углы в плоскости камеры,</a:t>
            </a:r>
          </a:p>
          <a:p xmlns:a="http://schemas.openxmlformats.org/drawingml/2006/main">
            <a:pPr>
              <a:defRPr sz="2025" b="0">
                <a:solidFill>
                  <a:srgbClr val="173C34"/>
                </a:solidFill>
                <a:latin typeface="Arial"/>
                <a:ea typeface="Arial"/>
                <a:cs typeface="Arial"/>
              </a:defRPr>
            </a:pPr>
            <a:r>
              <a:rPr sz="2025" b="0">
                <a:solidFill>
                  <a:srgbClr val="173C34"/>
                </a:solidFill>
                <a:latin typeface="Arial"/>
                <a:ea typeface="Arial"/>
                <a:cs typeface="Arial"/>
              </a:rPr>
              <a:t>движение запястий и различия сторон.</a:t>
            </a:r>
          </a:p>
        </p:txBody>
      </p:sp>
      <p:sp>
        <p:nvSpPr>
          <p:cNvPr id="9" name="Что оценивает специалист">
            <a:extLst xmlns:a="http://schemas.openxmlformats.org/drawingml/2006/main">
              <a:ext uri="{FF2B5EF4-FFF2-40B4-BE49-F238E27FC236}">
                <a16:creationId xmlns:a16="http://schemas.microsoft.com/office/drawing/2014/main" id="{E6E5212D-0CEA-4779-A8AF-7E0F2FAD5BB9}"/>
              </a:ext>
            </a:extLst>
          </p:cNvPr>
          <p:cNvSpPr>
            <a:spLocks xmlns:a="http://schemas.openxmlformats.org/drawingml/2006/main" noGrp="1"/>
          </p:cNvSpPr>
          <p:nvPr/>
        </p:nvSpPr>
        <p:spPr>
          <a:xfrm xmlns:a="http://schemas.openxmlformats.org/drawingml/2006/main">
            <a:off x="6477000" y="20097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3C34"/>
                </a:solidFill>
                <a:latin typeface="Arial"/>
                <a:ea typeface="Arial"/>
                <a:cs typeface="Arial"/>
              </a:defRPr>
            </a:pPr>
            <a:r>
              <a:rPr sz="2475" b="1">
                <a:solidFill>
                  <a:srgbClr val="173C34"/>
                </a:solidFill>
                <a:latin typeface="Arial"/>
                <a:ea typeface="Arial"/>
                <a:cs typeface="Arial"/>
              </a:rPr>
              <a:t>Что оценивает специалист</a:t>
            </a:r>
          </a:p>
        </p:txBody>
      </p:sp>
      <p:sp>
        <p:nvSpPr>
          <p:cNvPr id="10" name="Диагноз, причину боли, силу, тонус,&#10;безопасность и">
            <a:extLst xmlns:a="http://schemas.openxmlformats.org/drawingml/2006/main">
              <a:ext uri="{FF2B5EF4-FFF2-40B4-BE49-F238E27FC236}">
                <a16:creationId xmlns:a16="http://schemas.microsoft.com/office/drawing/2014/main" id="{535287D4-B214-4D8D-9327-C786969D13CB}"/>
              </a:ext>
            </a:extLst>
          </p:cNvPr>
          <p:cNvSpPr>
            <a:spLocks xmlns:a="http://schemas.openxmlformats.org/drawingml/2006/main" noGrp="1"/>
          </p:cNvSpPr>
          <p:nvPr/>
        </p:nvSpPr>
        <p:spPr>
          <a:xfrm xmlns:a="http://schemas.openxmlformats.org/drawingml/2006/main">
            <a:off x="6477000" y="2838450"/>
            <a:ext cx="5143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C34"/>
                </a:solidFill>
                <a:latin typeface="Arial"/>
                <a:ea typeface="Arial"/>
                <a:cs typeface="Arial"/>
              </a:defRPr>
            </a:pPr>
            <a:r>
              <a:rPr sz="2025" b="0">
                <a:solidFill>
                  <a:srgbClr val="173C34"/>
                </a:solidFill>
                <a:latin typeface="Arial"/>
                <a:ea typeface="Arial"/>
                <a:cs typeface="Arial"/>
              </a:rPr>
              <a:t>Диагноз, причину боли, силу, тонус,</a:t>
            </a:r>
          </a:p>
          <a:p xmlns:a="http://schemas.openxmlformats.org/drawingml/2006/main">
            <a:pPr>
              <a:defRPr sz="2025" b="0">
                <a:solidFill>
                  <a:srgbClr val="173C34"/>
                </a:solidFill>
                <a:latin typeface="Arial"/>
                <a:ea typeface="Arial"/>
                <a:cs typeface="Arial"/>
              </a:defRPr>
            </a:pPr>
            <a:r>
              <a:rPr sz="2025" b="0">
                <a:solidFill>
                  <a:srgbClr val="173C34"/>
                </a:solidFill>
                <a:latin typeface="Arial"/>
                <a:ea typeface="Arial"/>
                <a:cs typeface="Arial"/>
              </a:rPr>
              <a:t>безопасность и пригодность методов.</a:t>
            </a:r>
          </a:p>
          <a:p xmlns:a="http://schemas.openxmlformats.org/drawingml/2006/main">
            <a:pPr>
              <a:defRPr sz="2025" b="0">
                <a:solidFill>
                  <a:srgbClr val="173C34"/>
                </a:solidFill>
                <a:latin typeface="Arial"/>
                <a:ea typeface="Arial"/>
                <a:cs typeface="Arial"/>
              </a:defRPr>
            </a:pPr>
            <a:r>
              <a:rPr sz="2025" b="0">
                <a:solidFill>
                  <a:srgbClr val="173C34"/>
                </a:solidFill>
                <a:latin typeface="Arial"/>
                <a:ea typeface="Arial"/>
                <a:cs typeface="Arial"/>
              </a:rPr>
              <a:t>Лечение и нагрузку выбирает врач.</a:t>
            </a:r>
          </a:p>
        </p:txBody>
      </p:sp>
      <p:sp>
        <p:nvSpPr>
          <p:cNvPr id="11" name="">
            <a:extLst xmlns:a="http://schemas.openxmlformats.org/drawingml/2006/main">
              <a:ext uri="{FF2B5EF4-FFF2-40B4-BE49-F238E27FC236}">
                <a16:creationId xmlns:a16="http://schemas.microsoft.com/office/drawing/2014/main" id="{0DD023D8-8A98-49E3-B4C8-9A6CEC0A9527}"/>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D9E4DA"/>
          </a:solidFill>
          <a:ln xmlns:a="http://schemas.openxmlformats.org/drawingml/2006/main" w="0">
            <a:noFill/>
          </a:ln>
        </p:spPr>
      </p:sp>
      <p:sp>
        <p:nvSpPr>
          <p:cNvPr id="12" name="Походка, движения пальцев и захват пока не измеряю">
            <a:extLst xmlns:a="http://schemas.openxmlformats.org/drawingml/2006/main">
              <a:ext uri="{FF2B5EF4-FFF2-40B4-BE49-F238E27FC236}">
                <a16:creationId xmlns:a16="http://schemas.microsoft.com/office/drawing/2014/main" id="{285569AE-D8FB-40D9-BBE2-71297FF476A8}"/>
              </a:ext>
            </a:extLst>
          </p:cNvPr>
          <p:cNvSpPr>
            <a:spLocks xmlns:a="http://schemas.openxmlformats.org/drawingml/2006/main" noGrp="1"/>
          </p:cNvSpPr>
          <p:nvPr/>
        </p:nvSpPr>
        <p:spPr>
          <a:xfrm xmlns:a="http://schemas.openxmlformats.org/drawingml/2006/main">
            <a:off x="533400" y="4895850"/>
            <a:ext cx="111252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C7067"/>
                </a:solidFill>
                <a:latin typeface="Arial"/>
                <a:ea typeface="Arial"/>
                <a:cs typeface="Arial"/>
              </a:defRPr>
            </a:pPr>
            <a:r>
              <a:rPr sz="1950" b="0">
                <a:solidFill>
                  <a:srgbClr val="5C7067"/>
                </a:solidFill>
                <a:latin typeface="Arial"/>
                <a:ea typeface="Arial"/>
                <a:cs typeface="Arial"/>
              </a:rPr>
              <a:t>Походка, движения пальцев и захват пока не измеряются.</a:t>
            </a:r>
          </a:p>
          <a:p xmlns:a="http://schemas.openxmlformats.org/drawingml/2006/main">
            <a:pPr>
              <a:defRPr sz="1950" b="0">
                <a:solidFill>
                  <a:srgbClr val="5C7067"/>
                </a:solidFill>
                <a:latin typeface="Arial"/>
                <a:ea typeface="Arial"/>
                <a:cs typeface="Arial"/>
              </a:defRPr>
            </a:pPr>
            <a:r>
              <a:rPr sz="1950" b="0">
                <a:solidFill>
                  <a:srgbClr val="5C7067"/>
                </a:solidFill>
                <a:latin typeface="Arial"/>
                <a:ea typeface="Arial"/>
                <a:cs typeface="Arial"/>
              </a:rPr>
              <a:t>Общая карта пациента с динамикой визитов пока не реализована.</a:t>
            </a:r>
          </a:p>
        </p:txBody>
      </p:sp>
    </p:spTree>
    <p:extLst>
      <p:ext uri="{BB962C8B-B14F-4D97-AF65-F5344CB8AC3E}">
        <p14:creationId xmlns:p14="http://schemas.microsoft.com/office/powerpoint/2010/main" val="1262325782"/>
      </p:ext>
    </p:extLst>
  </p:cSld>
</p:sld>
</file>

<file path=ppt/slides/slide14.xml><?xml version="1.0" encoding="utf-8"?>
<p:sld xmlns:p="http://schemas.openxmlformats.org/presentationml/2006/main">
  <p:cSld>
    <p:bg>
      <p:bgPr>
        <a:solidFill xmlns:a="http://schemas.openxmlformats.org/drawingml/2006/main">
          <a:srgbClr val="173C34"/>
        </a:solidFill>
      </p:bgPr>
    </p:bg>
    <p:spTree>
      <p:nvGrpSpPr>
        <p:cNvPr id="1" name=""/>
        <p:cNvGrpSpPr/>
        <p:nvPr/>
      </p:nvGrpSpPr>
      <p:grpSpPr>
        <a:xfrm xmlns:a="http://schemas.openxmlformats.org/drawingml/2006/main"/>
      </p:grpSpPr>
      <p:sp>
        <p:nvSpPr>
          <p:cNvPr id="20" name="Короткая демонстрация">
            <a:extLst xmlns:a="http://schemas.openxmlformats.org/drawingml/2006/main">
              <a:ext uri="{FF2B5EF4-FFF2-40B4-BE49-F238E27FC236}">
                <a16:creationId xmlns:a16="http://schemas.microsoft.com/office/drawing/2014/main" id="{AF2AA89E-DC1A-434B-AC16-1C872EEE0038}"/>
              </a:ext>
            </a:extLst>
          </p:cNvPr>
          <p:cNvSpPr>
            <a:spLocks xmlns:a="http://schemas.openxmlformats.org/drawingml/2006/main" noGrp="1"/>
          </p:cNvSpPr>
          <p:nvPr/>
        </p:nvSpPr>
        <p:spPr>
          <a:xfrm xmlns:a="http://schemas.openxmlformats.org/drawingml/2006/main">
            <a:off x="533400" y="4572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Короткая демонстрация</a:t>
            </a:r>
          </a:p>
        </p:txBody>
      </p:sp>
      <p:sp>
        <p:nvSpPr>
          <p:cNvPr id="2" name="Учебный сценарий занимает примерно пять минут.">
            <a:extLst xmlns:a="http://schemas.openxmlformats.org/drawingml/2006/main">
              <a:ext uri="{FF2B5EF4-FFF2-40B4-BE49-F238E27FC236}">
                <a16:creationId xmlns:a16="http://schemas.microsoft.com/office/drawing/2014/main" id="{1E742ADF-27F2-4856-8AA0-E474D2591CC9}"/>
              </a:ext>
            </a:extLst>
          </p:cNvPr>
          <p:cNvSpPr>
            <a:spLocks xmlns:a="http://schemas.openxmlformats.org/drawingml/2006/main" noGrp="1"/>
          </p:cNvSpPr>
          <p:nvPr/>
        </p:nvSpPr>
        <p:spPr>
          <a:xfrm xmlns:a="http://schemas.openxmlformats.org/drawingml/2006/main">
            <a:off x="533400" y="11525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CD0C3"/>
                </a:solidFill>
                <a:latin typeface="Arial"/>
                <a:ea typeface="Arial"/>
                <a:cs typeface="Arial"/>
              </a:defRPr>
            </a:pPr>
            <a:r>
              <a:rPr sz="1725" b="0">
                <a:solidFill>
                  <a:srgbClr val="BCD0C3"/>
                </a:solidFill>
                <a:latin typeface="Arial"/>
                <a:ea typeface="Arial"/>
                <a:cs typeface="Arial"/>
              </a:rPr>
              <a:t>Учебный сценарий занимает примерно пять минут.</a:t>
            </a:r>
          </a:p>
        </p:txBody>
      </p:sp>
      <p:sp>
        <p:nvSpPr>
          <p:cNvPr id="3" name="">
            <a:extLst xmlns:a="http://schemas.openxmlformats.org/drawingml/2006/main">
              <a:ext uri="{FF2B5EF4-FFF2-40B4-BE49-F238E27FC236}">
                <a16:creationId xmlns:a16="http://schemas.microsoft.com/office/drawing/2014/main" id="{1F9409DA-FCF4-4394-B8C9-06D545C9D05D}"/>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3A5D50"/>
          </a:solidFill>
          <a:ln xmlns:a="http://schemas.openxmlformats.org/drawingml/2006/main" w="0">
            <a:noFill/>
          </a:ln>
        </p:spPr>
      </p:sp>
      <p:sp>
        <p:nvSpPr>
          <p:cNvPr id="4" name="КИНЕМА">
            <a:extLst xmlns:a="http://schemas.openxmlformats.org/drawingml/2006/main">
              <a:ext uri="{FF2B5EF4-FFF2-40B4-BE49-F238E27FC236}">
                <a16:creationId xmlns:a16="http://schemas.microsoft.com/office/drawing/2014/main" id="{DD839FD0-01D3-4257-8E8C-92A79D5DB919}"/>
              </a:ext>
            </a:extLst>
          </p:cNvPr>
          <p:cNvSpPr>
            <a:spLocks xmlns:a="http://schemas.openxmlformats.org/drawingml/2006/main" noGrp="1"/>
          </p:cNvSpPr>
          <p:nvPr/>
        </p:nvSpPr>
        <p:spPr>
          <a:xfrm xmlns:a="http://schemas.openxmlformats.org/drawingml/2006/main">
            <a:off x="5334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CD0C3"/>
                </a:solidFill>
                <a:latin typeface="Arial"/>
                <a:ea typeface="Arial"/>
                <a:cs typeface="Arial"/>
              </a:defRPr>
            </a:pPr>
            <a:r>
              <a:rPr sz="1050" b="1">
                <a:solidFill>
                  <a:srgbClr val="BCD0C3"/>
                </a:solidFill>
                <a:latin typeface="Arial"/>
                <a:ea typeface="Arial"/>
                <a:cs typeface="Arial"/>
              </a:rPr>
              <a:t>КИНЕМА</a:t>
            </a:r>
          </a:p>
        </p:txBody>
      </p:sp>
      <p:sp>
        <p:nvSpPr>
          <p:cNvPr id="5" name="Исследовательский прототип">
            <a:extLst xmlns:a="http://schemas.openxmlformats.org/drawingml/2006/main">
              <a:ext uri="{FF2B5EF4-FFF2-40B4-BE49-F238E27FC236}">
                <a16:creationId xmlns:a16="http://schemas.microsoft.com/office/drawing/2014/main" id="{0A165495-5E63-424C-91EA-E3C1801CE5DD}"/>
              </a:ext>
            </a:extLst>
          </p:cNvPr>
          <p:cNvSpPr>
            <a:spLocks xmlns:a="http://schemas.openxmlformats.org/drawingml/2006/main" noGrp="1"/>
          </p:cNvSpPr>
          <p:nvPr/>
        </p:nvSpPr>
        <p:spPr>
          <a:xfrm xmlns:a="http://schemas.openxmlformats.org/drawingml/2006/main">
            <a:off x="2095500" y="6524625"/>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CD0C3"/>
                </a:solidFill>
                <a:latin typeface="Arial"/>
                <a:ea typeface="Arial"/>
                <a:cs typeface="Arial"/>
              </a:defRPr>
            </a:pPr>
            <a:r>
              <a:rPr sz="1050" b="0">
                <a:solidFill>
                  <a:srgbClr val="BCD0C3"/>
                </a:solidFill>
                <a:latin typeface="Arial"/>
                <a:ea typeface="Arial"/>
                <a:cs typeface="Arial"/>
              </a:rPr>
              <a:t>Исследовательский прототип</a:t>
            </a:r>
          </a:p>
        </p:txBody>
      </p:sp>
      <p:sp>
        <p:nvSpPr>
          <p:cNvPr id="6" name="14">
            <a:extLst xmlns:a="http://schemas.openxmlformats.org/drawingml/2006/main">
              <a:ext uri="{FF2B5EF4-FFF2-40B4-BE49-F238E27FC236}">
                <a16:creationId xmlns:a16="http://schemas.microsoft.com/office/drawing/2014/main" id="{C5BF6B96-F531-4625-BFD4-E49B2646FCEB}"/>
              </a:ext>
            </a:extLst>
          </p:cNvPr>
          <p:cNvSpPr>
            <a:spLocks xmlns:a="http://schemas.openxmlformats.org/drawingml/2006/main" noGrp="1"/>
          </p:cNvSpPr>
          <p:nvPr/>
        </p:nvSpPr>
        <p:spPr>
          <a:xfrm xmlns:a="http://schemas.openxmlformats.org/drawingml/2006/main">
            <a:off x="11144250" y="65246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CD0C3"/>
                </a:solidFill>
                <a:latin typeface="Arial"/>
                <a:ea typeface="Arial"/>
                <a:cs typeface="Arial"/>
              </a:defRPr>
            </a:pPr>
            <a:r>
              <a:rPr sz="1050" b="0">
                <a:solidFill>
                  <a:srgbClr val="BCD0C3"/>
                </a:solidFill>
                <a:latin typeface="Arial"/>
                <a:ea typeface="Arial"/>
                <a:cs typeface="Arial"/>
              </a:rPr>
              <a:t>14</a:t>
            </a:r>
          </a:p>
        </p:txBody>
      </p:sp>
      <p:sp>
        <p:nvSpPr>
          <p:cNvPr id="7" name="01">
            <a:extLst xmlns:a="http://schemas.openxmlformats.org/drawingml/2006/main">
              <a:ext uri="{FF2B5EF4-FFF2-40B4-BE49-F238E27FC236}">
                <a16:creationId xmlns:a16="http://schemas.microsoft.com/office/drawing/2014/main" id="{ACEE51A8-7495-43E3-8831-3034994F0B1D}"/>
              </a:ext>
            </a:extLst>
          </p:cNvPr>
          <p:cNvSpPr>
            <a:spLocks xmlns:a="http://schemas.openxmlformats.org/drawingml/2006/main" noGrp="1"/>
          </p:cNvSpPr>
          <p:nvPr/>
        </p:nvSpPr>
        <p:spPr>
          <a:xfrm xmlns:a="http://schemas.openxmlformats.org/drawingml/2006/main">
            <a:off x="533400" y="200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81B799"/>
                </a:solidFill>
                <a:latin typeface="Arial"/>
                <a:ea typeface="Arial"/>
                <a:cs typeface="Arial"/>
              </a:defRPr>
            </a:pPr>
            <a:r>
              <a:rPr sz="2025" b="1">
                <a:solidFill>
                  <a:srgbClr val="81B799"/>
                </a:solidFill>
                <a:latin typeface="Arial"/>
                <a:ea typeface="Arial"/>
                <a:cs typeface="Arial"/>
              </a:rPr>
              <a:t>01</a:t>
            </a:r>
          </a:p>
        </p:txBody>
      </p:sp>
      <p:sp>
        <p:nvSpPr>
          <p:cNvPr id="8" name="Анкета">
            <a:extLst xmlns:a="http://schemas.openxmlformats.org/drawingml/2006/main">
              <a:ext uri="{FF2B5EF4-FFF2-40B4-BE49-F238E27FC236}">
                <a16:creationId xmlns:a16="http://schemas.microsoft.com/office/drawing/2014/main" id="{0CA14192-A519-4C47-AC3A-7E05A8E874EB}"/>
              </a:ext>
            </a:extLst>
          </p:cNvPr>
          <p:cNvSpPr>
            <a:spLocks xmlns:a="http://schemas.openxmlformats.org/drawingml/2006/main" noGrp="1"/>
          </p:cNvSpPr>
          <p:nvPr/>
        </p:nvSpPr>
        <p:spPr>
          <a:xfrm xmlns:a="http://schemas.openxmlformats.org/drawingml/2006/main">
            <a:off x="1333500" y="2000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Анкета</a:t>
            </a:r>
          </a:p>
        </p:txBody>
      </p:sp>
      <p:sp>
        <p:nvSpPr>
          <p:cNvPr id="9" name="История болезни и бытовые цели вымышленного пациен">
            <a:extLst xmlns:a="http://schemas.openxmlformats.org/drawingml/2006/main">
              <a:ext uri="{FF2B5EF4-FFF2-40B4-BE49-F238E27FC236}">
                <a16:creationId xmlns:a16="http://schemas.microsoft.com/office/drawing/2014/main" id="{B6B00669-0CDC-43F6-8BD5-8B7F03864B09}"/>
              </a:ext>
            </a:extLst>
          </p:cNvPr>
          <p:cNvSpPr>
            <a:spLocks xmlns:a="http://schemas.openxmlformats.org/drawingml/2006/main" noGrp="1"/>
          </p:cNvSpPr>
          <p:nvPr/>
        </p:nvSpPr>
        <p:spPr>
          <a:xfrm xmlns:a="http://schemas.openxmlformats.org/drawingml/2006/main">
            <a:off x="4114800" y="2000250"/>
            <a:ext cx="7505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D7E3DA"/>
                </a:solidFill>
                <a:latin typeface="Arial"/>
                <a:ea typeface="Arial"/>
                <a:cs typeface="Arial"/>
              </a:defRPr>
            </a:pPr>
            <a:r>
              <a:rPr sz="1950" b="0">
                <a:solidFill>
                  <a:srgbClr val="D7E3DA"/>
                </a:solidFill>
                <a:latin typeface="Arial"/>
                <a:ea typeface="Arial"/>
                <a:cs typeface="Arial"/>
              </a:rPr>
              <a:t>История болезни и бытовые цели вымышленного пациента.</a:t>
            </a:r>
          </a:p>
        </p:txBody>
      </p:sp>
      <p:sp>
        <p:nvSpPr>
          <p:cNvPr id="10" name="02">
            <a:extLst xmlns:a="http://schemas.openxmlformats.org/drawingml/2006/main">
              <a:ext uri="{FF2B5EF4-FFF2-40B4-BE49-F238E27FC236}">
                <a16:creationId xmlns:a16="http://schemas.microsoft.com/office/drawing/2014/main" id="{CBA9B7C3-85FF-47B2-A1F8-52E82E1F7079}"/>
              </a:ext>
            </a:extLst>
          </p:cNvPr>
          <p:cNvSpPr>
            <a:spLocks xmlns:a="http://schemas.openxmlformats.org/drawingml/2006/main" noGrp="1"/>
          </p:cNvSpPr>
          <p:nvPr/>
        </p:nvSpPr>
        <p:spPr>
          <a:xfrm xmlns:a="http://schemas.openxmlformats.org/drawingml/2006/main">
            <a:off x="533400" y="293370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81B799"/>
                </a:solidFill>
                <a:latin typeface="Arial"/>
                <a:ea typeface="Arial"/>
                <a:cs typeface="Arial"/>
              </a:defRPr>
            </a:pPr>
            <a:r>
              <a:rPr sz="2025" b="1">
                <a:solidFill>
                  <a:srgbClr val="81B799"/>
                </a:solidFill>
                <a:latin typeface="Arial"/>
                <a:ea typeface="Arial"/>
                <a:cs typeface="Arial"/>
              </a:rPr>
              <a:t>02</a:t>
            </a:r>
          </a:p>
        </p:txBody>
      </p:sp>
      <p:sp>
        <p:nvSpPr>
          <p:cNvPr id="11" name="Видео">
            <a:extLst xmlns:a="http://schemas.openxmlformats.org/drawingml/2006/main">
              <a:ext uri="{FF2B5EF4-FFF2-40B4-BE49-F238E27FC236}">
                <a16:creationId xmlns:a16="http://schemas.microsoft.com/office/drawing/2014/main" id="{75C883C1-D22D-48F0-BC64-AE03F2D8AA46}"/>
              </a:ext>
            </a:extLst>
          </p:cNvPr>
          <p:cNvSpPr>
            <a:spLocks xmlns:a="http://schemas.openxmlformats.org/drawingml/2006/main" noGrp="1"/>
          </p:cNvSpPr>
          <p:nvPr/>
        </p:nvSpPr>
        <p:spPr>
          <a:xfrm xmlns:a="http://schemas.openxmlformats.org/drawingml/2006/main">
            <a:off x="1333500" y="29337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Видео</a:t>
            </a:r>
          </a:p>
        </p:txBody>
      </p:sp>
      <p:sp>
        <p:nvSpPr>
          <p:cNvPr id="12" name="Схема движения и переход к кадру по событию или гр">
            <a:extLst xmlns:a="http://schemas.openxmlformats.org/drawingml/2006/main">
              <a:ext uri="{FF2B5EF4-FFF2-40B4-BE49-F238E27FC236}">
                <a16:creationId xmlns:a16="http://schemas.microsoft.com/office/drawing/2014/main" id="{FF26D688-CDC7-4EFE-9F86-A4FEA75D796C}"/>
              </a:ext>
            </a:extLst>
          </p:cNvPr>
          <p:cNvSpPr>
            <a:spLocks xmlns:a="http://schemas.openxmlformats.org/drawingml/2006/main" noGrp="1"/>
          </p:cNvSpPr>
          <p:nvPr/>
        </p:nvSpPr>
        <p:spPr>
          <a:xfrm xmlns:a="http://schemas.openxmlformats.org/drawingml/2006/main">
            <a:off x="4114800" y="2933700"/>
            <a:ext cx="7505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D7E3DA"/>
                </a:solidFill>
                <a:latin typeface="Arial"/>
                <a:ea typeface="Arial"/>
                <a:cs typeface="Arial"/>
              </a:defRPr>
            </a:pPr>
            <a:r>
              <a:rPr sz="1950" b="0">
                <a:solidFill>
                  <a:srgbClr val="D7E3DA"/>
                </a:solidFill>
                <a:latin typeface="Arial"/>
                <a:ea typeface="Arial"/>
                <a:cs typeface="Arial"/>
              </a:rPr>
              <a:t>Схема движения и переход к кадру по событию или графику.</a:t>
            </a:r>
          </a:p>
        </p:txBody>
      </p:sp>
      <p:sp>
        <p:nvSpPr>
          <p:cNvPr id="13" name="03">
            <a:extLst xmlns:a="http://schemas.openxmlformats.org/drawingml/2006/main">
              <a:ext uri="{FF2B5EF4-FFF2-40B4-BE49-F238E27FC236}">
                <a16:creationId xmlns:a16="http://schemas.microsoft.com/office/drawing/2014/main" id="{45E834FB-DFA1-477B-95C5-E614729D3B96}"/>
              </a:ext>
            </a:extLst>
          </p:cNvPr>
          <p:cNvSpPr>
            <a:spLocks xmlns:a="http://schemas.openxmlformats.org/drawingml/2006/main" noGrp="1"/>
          </p:cNvSpPr>
          <p:nvPr/>
        </p:nvSpPr>
        <p:spPr>
          <a:xfrm xmlns:a="http://schemas.openxmlformats.org/drawingml/2006/main">
            <a:off x="533400" y="38671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81B799"/>
                </a:solidFill>
                <a:latin typeface="Arial"/>
                <a:ea typeface="Arial"/>
                <a:cs typeface="Arial"/>
              </a:defRPr>
            </a:pPr>
            <a:r>
              <a:rPr sz="2025" b="1">
                <a:solidFill>
                  <a:srgbClr val="81B799"/>
                </a:solidFill>
                <a:latin typeface="Arial"/>
                <a:ea typeface="Arial"/>
                <a:cs typeface="Arial"/>
              </a:rPr>
              <a:t>03</a:t>
            </a:r>
          </a:p>
        </p:txBody>
      </p:sp>
      <p:sp>
        <p:nvSpPr>
          <p:cNvPr id="14" name="Отчёт">
            <a:extLst xmlns:a="http://schemas.openxmlformats.org/drawingml/2006/main">
              <a:ext uri="{FF2B5EF4-FFF2-40B4-BE49-F238E27FC236}">
                <a16:creationId xmlns:a16="http://schemas.microsoft.com/office/drawing/2014/main" id="{5DDC8851-E369-493C-9600-B5A1D3434160}"/>
              </a:ext>
            </a:extLst>
          </p:cNvPr>
          <p:cNvSpPr>
            <a:spLocks xmlns:a="http://schemas.openxmlformats.org/drawingml/2006/main" noGrp="1"/>
          </p:cNvSpPr>
          <p:nvPr/>
        </p:nvSpPr>
        <p:spPr>
          <a:xfrm xmlns:a="http://schemas.openxmlformats.org/drawingml/2006/main">
            <a:off x="1333500" y="38671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Отчёт</a:t>
            </a:r>
          </a:p>
        </p:txBody>
      </p:sp>
      <p:sp>
        <p:nvSpPr>
          <p:cNvPr id="15" name="ROM, различия сторон и проверка качества данных.">
            <a:extLst xmlns:a="http://schemas.openxmlformats.org/drawingml/2006/main">
              <a:ext uri="{FF2B5EF4-FFF2-40B4-BE49-F238E27FC236}">
                <a16:creationId xmlns:a16="http://schemas.microsoft.com/office/drawing/2014/main" id="{97A934BD-CCB7-4370-9704-1E2D97E1D884}"/>
              </a:ext>
            </a:extLst>
          </p:cNvPr>
          <p:cNvSpPr>
            <a:spLocks xmlns:a="http://schemas.openxmlformats.org/drawingml/2006/main" noGrp="1"/>
          </p:cNvSpPr>
          <p:nvPr/>
        </p:nvSpPr>
        <p:spPr>
          <a:xfrm xmlns:a="http://schemas.openxmlformats.org/drawingml/2006/main">
            <a:off x="4114800" y="3867150"/>
            <a:ext cx="7505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D7E3DA"/>
                </a:solidFill>
                <a:latin typeface="Arial"/>
                <a:ea typeface="Arial"/>
                <a:cs typeface="Arial"/>
              </a:defRPr>
            </a:pPr>
            <a:r>
              <a:rPr sz="1950" b="0">
                <a:solidFill>
                  <a:srgbClr val="D7E3DA"/>
                </a:solidFill>
                <a:latin typeface="Arial"/>
                <a:ea typeface="Arial"/>
                <a:cs typeface="Arial"/>
              </a:rPr>
              <a:t>ROM, различия сторон и проверка качества данных.</a:t>
            </a:r>
          </a:p>
        </p:txBody>
      </p:sp>
      <p:sp>
        <p:nvSpPr>
          <p:cNvPr id="16" name="04">
            <a:extLst xmlns:a="http://schemas.openxmlformats.org/drawingml/2006/main">
              <a:ext uri="{FF2B5EF4-FFF2-40B4-BE49-F238E27FC236}">
                <a16:creationId xmlns:a16="http://schemas.microsoft.com/office/drawing/2014/main" id="{043C84EB-B116-4795-9C81-AD726CD2F35D}"/>
              </a:ext>
            </a:extLst>
          </p:cNvPr>
          <p:cNvSpPr>
            <a:spLocks xmlns:a="http://schemas.openxmlformats.org/drawingml/2006/main" noGrp="1"/>
          </p:cNvSpPr>
          <p:nvPr/>
        </p:nvSpPr>
        <p:spPr>
          <a:xfrm xmlns:a="http://schemas.openxmlformats.org/drawingml/2006/main">
            <a:off x="533400" y="480060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81B799"/>
                </a:solidFill>
                <a:latin typeface="Arial"/>
                <a:ea typeface="Arial"/>
                <a:cs typeface="Arial"/>
              </a:defRPr>
            </a:pPr>
            <a:r>
              <a:rPr sz="2025" b="1">
                <a:solidFill>
                  <a:srgbClr val="81B799"/>
                </a:solidFill>
                <a:latin typeface="Arial"/>
                <a:ea typeface="Arial"/>
                <a:cs typeface="Arial"/>
              </a:rPr>
              <a:t>04</a:t>
            </a:r>
          </a:p>
        </p:txBody>
      </p:sp>
      <p:sp>
        <p:nvSpPr>
          <p:cNvPr id="17" name="Обсуждение">
            <a:extLst xmlns:a="http://schemas.openxmlformats.org/drawingml/2006/main">
              <a:ext uri="{FF2B5EF4-FFF2-40B4-BE49-F238E27FC236}">
                <a16:creationId xmlns:a16="http://schemas.microsoft.com/office/drawing/2014/main" id="{36970E79-7BFA-4C3A-A7AE-A4F20F17C46A}"/>
              </a:ext>
            </a:extLst>
          </p:cNvPr>
          <p:cNvSpPr>
            <a:spLocks xmlns:a="http://schemas.openxmlformats.org/drawingml/2006/main" noGrp="1"/>
          </p:cNvSpPr>
          <p:nvPr/>
        </p:nvSpPr>
        <p:spPr>
          <a:xfrm xmlns:a="http://schemas.openxmlformats.org/drawingml/2006/main">
            <a:off x="1333500" y="48006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Обсуждение</a:t>
            </a:r>
          </a:p>
        </p:txBody>
      </p:sp>
      <p:sp>
        <p:nvSpPr>
          <p:cNvPr id="18" name="Приоритеты оценки, методы, источники и экспорт.">
            <a:extLst xmlns:a="http://schemas.openxmlformats.org/drawingml/2006/main">
              <a:ext uri="{FF2B5EF4-FFF2-40B4-BE49-F238E27FC236}">
                <a16:creationId xmlns:a16="http://schemas.microsoft.com/office/drawing/2014/main" id="{6FFE9EBA-5989-4E2E-BE4A-1CD22EE7AC23}"/>
              </a:ext>
            </a:extLst>
          </p:cNvPr>
          <p:cNvSpPr>
            <a:spLocks xmlns:a="http://schemas.openxmlformats.org/drawingml/2006/main" noGrp="1"/>
          </p:cNvSpPr>
          <p:nvPr/>
        </p:nvSpPr>
        <p:spPr>
          <a:xfrm xmlns:a="http://schemas.openxmlformats.org/drawingml/2006/main">
            <a:off x="4114800" y="4800600"/>
            <a:ext cx="7505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D7E3DA"/>
                </a:solidFill>
                <a:latin typeface="Arial"/>
                <a:ea typeface="Arial"/>
                <a:cs typeface="Arial"/>
              </a:defRPr>
            </a:pPr>
            <a:r>
              <a:rPr sz="1950" b="0">
                <a:solidFill>
                  <a:srgbClr val="D7E3DA"/>
                </a:solidFill>
                <a:latin typeface="Arial"/>
                <a:ea typeface="Arial"/>
                <a:cs typeface="Arial"/>
              </a:rPr>
              <a:t>Приоритеты оценки, методы, источники и экспорт.</a:t>
            </a:r>
          </a:p>
        </p:txBody>
      </p:sp>
      <p:sp>
        <p:nvSpPr>
          <p:cNvPr id="19" name="Главный вопрос для врача и пациента: какие данные ">
            <a:extLst xmlns:a="http://schemas.openxmlformats.org/drawingml/2006/main">
              <a:ext uri="{FF2B5EF4-FFF2-40B4-BE49-F238E27FC236}">
                <a16:creationId xmlns:a16="http://schemas.microsoft.com/office/drawing/2014/main" id="{CD194E90-8977-46FD-918E-EA48CA6563C7}"/>
              </a:ext>
            </a:extLst>
          </p:cNvPr>
          <p:cNvSpPr>
            <a:spLocks xmlns:a="http://schemas.openxmlformats.org/drawingml/2006/main" noGrp="1"/>
          </p:cNvSpPr>
          <p:nvPr/>
        </p:nvSpPr>
        <p:spPr>
          <a:xfrm xmlns:a="http://schemas.openxmlformats.org/drawingml/2006/main">
            <a:off x="533400" y="586740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BCD0C3"/>
                </a:solidFill>
                <a:latin typeface="Arial"/>
                <a:ea typeface="Arial"/>
                <a:cs typeface="Arial"/>
              </a:defRPr>
            </a:pPr>
            <a:r>
              <a:rPr sz="1800" b="0">
                <a:solidFill>
                  <a:srgbClr val="BCD0C3"/>
                </a:solidFill>
                <a:latin typeface="Arial"/>
                <a:ea typeface="Arial"/>
                <a:cs typeface="Arial"/>
              </a:rPr>
              <a:t>Главный вопрос для врача и пациента: какие данные ещё нужны для решения?</a:t>
            </a:r>
          </a:p>
        </p:txBody>
      </p:sp>
    </p:spTree>
    <p:extLst>
      <p:ext uri="{BB962C8B-B14F-4D97-AF65-F5344CB8AC3E}">
        <p14:creationId xmlns:p14="http://schemas.microsoft.com/office/powerpoint/2010/main" val="991962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2026-10-04T08:51:42.2640000Z</dcterms:created>
  <dcterms:modified xsi:type="dcterms:W3CDTF">2026-10-04T08:51:42.2640000Z</dcterms:modified>
</coreProperties>
</file>